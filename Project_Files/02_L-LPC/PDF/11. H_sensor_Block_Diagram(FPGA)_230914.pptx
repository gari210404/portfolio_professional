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</p:sldMasterIdLst>
  <p:notesMasterIdLst>
    <p:notesMasterId r:id="rId11"/>
  </p:notesMasterIdLst>
  <p:sldIdLst>
    <p:sldId id="1053" r:id="rId2"/>
    <p:sldId id="1054" r:id="rId3"/>
    <p:sldId id="1057" r:id="rId4"/>
    <p:sldId id="1059" r:id="rId5"/>
    <p:sldId id="1060" r:id="rId6"/>
    <p:sldId id="1061" r:id="rId7"/>
    <p:sldId id="1058" r:id="rId8"/>
    <p:sldId id="1055" r:id="rId9"/>
    <p:sldId id="1056" r:id="rId10"/>
  </p:sldIdLst>
  <p:sldSz cx="12192000" cy="6858000"/>
  <p:notesSz cx="6807200" cy="9939338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alibri Light" panose="020F0302020204030204" pitchFamily="34" charset="0"/>
      <p:regular r:id="rId16"/>
      <p:italic r:id="rId17"/>
    </p:embeddedFont>
    <p:embeddedFont>
      <p:font typeface="Cambria Math" panose="02040503050406030204" pitchFamily="18" charset="0"/>
      <p:regular r:id="rId18"/>
    </p:embeddedFont>
    <p:embeddedFont>
      <p:font typeface="Tahoma" panose="020B0604030504040204" pitchFamily="34" charset="0"/>
      <p:regular r:id="rId19"/>
      <p:bold r:id="rId20"/>
    </p:embeddedFont>
    <p:embeddedFont>
      <p:font typeface="맑은 고딕" panose="020B0503020000020004" pitchFamily="50" charset="-127"/>
      <p:regular r:id="rId21"/>
      <p:bold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4FB7E4B-D786-4030-A2D8-55FE48633021}">
          <p14:sldIdLst>
            <p14:sldId id="1053"/>
            <p14:sldId id="1054"/>
            <p14:sldId id="1057"/>
            <p14:sldId id="1059"/>
            <p14:sldId id="1060"/>
            <p14:sldId id="1061"/>
            <p14:sldId id="1058"/>
            <p14:sldId id="1055"/>
            <p14:sldId id="10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최 현식" initials="최현" lastIdx="1" clrIdx="0">
    <p:extLst>
      <p:ext uri="{19B8F6BF-5375-455C-9EA6-DF929625EA0E}">
        <p15:presenceInfo xmlns:p15="http://schemas.microsoft.com/office/powerpoint/2012/main" userId="S::hschoi@ATIkorea.onmicrosoft.com::f9fdaa6d-c3a3-45f8-83a5-788e5ebbd811" providerId="AD"/>
      </p:ext>
    </p:extLst>
  </p:cmAuthor>
  <p:cmAuthor id="2" name="개발자 개발자" initials="개개" lastIdx="1" clrIdx="1">
    <p:extLst>
      <p:ext uri="{19B8F6BF-5375-455C-9EA6-DF929625EA0E}">
        <p15:presenceInfo xmlns:p15="http://schemas.microsoft.com/office/powerpoint/2012/main" userId="338a36372ee286e0" providerId="Windows Live"/>
      </p:ext>
    </p:extLst>
  </p:cmAuthor>
  <p:cmAuthor id="3" name="조 남희" initials="조남" lastIdx="2" clrIdx="2">
    <p:extLst>
      <p:ext uri="{19B8F6BF-5375-455C-9EA6-DF929625EA0E}">
        <p15:presenceInfo xmlns:p15="http://schemas.microsoft.com/office/powerpoint/2012/main" userId="조 남희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66FF"/>
    <a:srgbClr val="F7941D"/>
    <a:srgbClr val="92D050"/>
    <a:srgbClr val="0033CC"/>
    <a:srgbClr val="A9D18E"/>
    <a:srgbClr val="BDD7EE"/>
    <a:srgbClr val="6B86B7"/>
    <a:srgbClr val="2F5597"/>
    <a:srgbClr val="0066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93" autoAdjust="0"/>
    <p:restoredTop sz="96353" autoAdjust="0"/>
  </p:normalViewPr>
  <p:slideViewPr>
    <p:cSldViewPr snapToGrid="0">
      <p:cViewPr varScale="1">
        <p:scale>
          <a:sx n="100" d="100"/>
          <a:sy n="100" d="100"/>
        </p:scale>
        <p:origin x="354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4014" y="120"/>
      </p:cViewPr>
      <p:guideLst>
        <p:guide orient="horz" pos="3130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50529" cy="497524"/>
          </a:xfrm>
          <a:prstGeom prst="rect">
            <a:avLst/>
          </a:prstGeom>
        </p:spPr>
        <p:txBody>
          <a:bodyPr vert="horz" lIns="91553" tIns="45776" rIns="91553" bIns="4577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082" y="1"/>
            <a:ext cx="2950529" cy="497524"/>
          </a:xfrm>
          <a:prstGeom prst="rect">
            <a:avLst/>
          </a:prstGeom>
        </p:spPr>
        <p:txBody>
          <a:bodyPr vert="horz" lIns="91553" tIns="45776" rIns="91553" bIns="45776" rtlCol="0"/>
          <a:lstStyle>
            <a:lvl1pPr algn="r">
              <a:defRPr sz="1200"/>
            </a:lvl1pPr>
          </a:lstStyle>
          <a:p>
            <a:fld id="{80FC245E-B063-4E20-85CD-EC637D7B7570}" type="datetimeFigureOut">
              <a:rPr lang="ko-KR" altLang="en-US" smtClean="0"/>
              <a:pPr/>
              <a:t>2023-09-14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6125"/>
            <a:ext cx="662622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3" tIns="45776" rIns="91553" bIns="4577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403" y="4720908"/>
            <a:ext cx="5446396" cy="4472940"/>
          </a:xfrm>
          <a:prstGeom prst="rect">
            <a:avLst/>
          </a:prstGeom>
        </p:spPr>
        <p:txBody>
          <a:bodyPr vert="horz" lIns="91553" tIns="45776" rIns="91553" bIns="45776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227"/>
            <a:ext cx="2950529" cy="497523"/>
          </a:xfrm>
          <a:prstGeom prst="rect">
            <a:avLst/>
          </a:prstGeom>
        </p:spPr>
        <p:txBody>
          <a:bodyPr vert="horz" lIns="91553" tIns="45776" rIns="91553" bIns="4577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082" y="9440227"/>
            <a:ext cx="2950529" cy="497523"/>
          </a:xfrm>
          <a:prstGeom prst="rect">
            <a:avLst/>
          </a:prstGeom>
        </p:spPr>
        <p:txBody>
          <a:bodyPr vert="horz" lIns="91553" tIns="45776" rIns="91553" bIns="45776" rtlCol="0" anchor="b"/>
          <a:lstStyle>
            <a:lvl1pPr algn="r">
              <a:defRPr sz="1200"/>
            </a:lvl1pPr>
          </a:lstStyle>
          <a:p>
            <a:fld id="{4A9B394A-6DF7-456D-ABD7-CBFA9FCF3A8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D2B7E9B-AF63-4C49-9595-EFDF7D72A8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03EB39B-D6EB-4FD8-84B8-58A2B4D28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938" y="1796182"/>
            <a:ext cx="11938123" cy="119308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002060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7FD1957-3C2E-47D3-93A3-26EECA666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4839" y="3112064"/>
            <a:ext cx="9144000" cy="690661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rgbClr val="002060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 dirty="0"/>
              <a:t>Click to edit Master subtitle style</a:t>
            </a:r>
            <a:endParaRPr 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1FA3D4F-C34F-427D-BDC8-CE127F8F8D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82993" y="4940815"/>
            <a:ext cx="6064013" cy="177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932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B38F1D0-0429-4A1E-AEFE-592BBBB80602}"/>
              </a:ext>
            </a:extLst>
          </p:cNvPr>
          <p:cNvSpPr/>
          <p:nvPr userDrawn="1"/>
        </p:nvSpPr>
        <p:spPr bwMode="auto">
          <a:xfrm>
            <a:off x="0" y="-10713"/>
            <a:ext cx="12192000" cy="55967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latinLnBrk="1" hangingPunct="1">
              <a:defRPr/>
            </a:pPr>
            <a:r>
              <a:rPr lang="en-US" altLang="ko-KR" sz="2500" b="1" dirty="0">
                <a:solidFill>
                  <a:schemeClr val="bg1"/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 </a:t>
            </a:r>
            <a:r>
              <a:rPr lang="en-US" altLang="ko-KR" sz="25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694324C-3779-4D40-8A54-F25C13DCA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107" y="891172"/>
            <a:ext cx="11351580" cy="5285795"/>
          </a:xfrm>
        </p:spPr>
        <p:txBody>
          <a:bodyPr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B6BD4AC-CA4C-4C13-97D9-D8136387E1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743200" cy="365125"/>
          </a:xfrm>
        </p:spPr>
        <p:txBody>
          <a:bodyPr/>
          <a:lstStyle/>
          <a:p>
            <a:fld id="{F368E201-A299-44C5-8613-B4E3FD21E4FC}" type="datetimeFigureOut">
              <a:rPr lang="ko-KR" altLang="en-US" smtClean="0"/>
              <a:pPr/>
              <a:t>2023-09-14</a:t>
            </a:fld>
            <a:endParaRPr lang="ko-KR" alt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D912B63-553A-46FB-A452-2AA36B1D8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pic>
        <p:nvPicPr>
          <p:cNvPr id="12" name="Picture 10" descr="(가로)ATIK">
            <a:extLst>
              <a:ext uri="{FF2B5EF4-FFF2-40B4-BE49-F238E27FC236}">
                <a16:creationId xmlns:a16="http://schemas.microsoft.com/office/drawing/2014/main" id="{B067E1BE-3362-44E4-AF91-1E1909F7A8D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9600" y="6421268"/>
            <a:ext cx="131746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8349D056-D8CB-4644-BCAD-7A697A0657BC}"/>
              </a:ext>
            </a:extLst>
          </p:cNvPr>
          <p:cNvSpPr/>
          <p:nvPr userDrawn="1"/>
        </p:nvSpPr>
        <p:spPr bwMode="auto">
          <a:xfrm>
            <a:off x="-1" y="6631619"/>
            <a:ext cx="10321771" cy="12778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latinLnBrk="1" hangingPunct="1">
              <a:defRPr/>
            </a:pPr>
            <a:r>
              <a:rPr lang="en-US" altLang="ko-KR" sz="2500" b="1" dirty="0">
                <a:solidFill>
                  <a:schemeClr val="bg1"/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 </a:t>
            </a:r>
            <a:r>
              <a:rPr lang="en-US" altLang="ko-KR" sz="25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4142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8E201-A299-44C5-8613-B4E3FD21E4FC}" type="datetimeFigureOut">
              <a:rPr lang="ko-KR" altLang="en-US" smtClean="0"/>
              <a:pPr/>
              <a:t>2023-09-14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7357-B164-46F8-A95A-F09241D7391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6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8E201-A299-44C5-8613-B4E3FD21E4FC}" type="datetimeFigureOut">
              <a:rPr lang="ko-KR" altLang="en-US" smtClean="0"/>
              <a:pPr/>
              <a:t>2023-09-14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7357-B164-46F8-A95A-F09241D7391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799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8E201-A299-44C5-8613-B4E3FD21E4FC}" type="datetimeFigureOut">
              <a:rPr lang="ko-KR" altLang="en-US" smtClean="0"/>
              <a:pPr/>
              <a:t>2023-09-14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7357-B164-46F8-A95A-F09241D7391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596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25E29E3-5CA2-417F-936B-BE3ED96E76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3862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AF53813-7FCA-4744-B44C-924D2C4B7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6" y="2103435"/>
            <a:ext cx="4242362" cy="1325563"/>
          </a:xfrm>
        </p:spPr>
        <p:txBody>
          <a:bodyPr>
            <a:noAutofit/>
          </a:bodyPr>
          <a:lstStyle>
            <a:lvl1pPr>
              <a:defRPr sz="5400">
                <a:solidFill>
                  <a:srgbClr val="002060"/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17EE497-E678-41E8-B8DE-37813993E943}"/>
              </a:ext>
            </a:extLst>
          </p:cNvPr>
          <p:cNvSpPr/>
          <p:nvPr userDrawn="1"/>
        </p:nvSpPr>
        <p:spPr>
          <a:xfrm>
            <a:off x="5416453" y="-2"/>
            <a:ext cx="6787409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D9DBB44C-3521-476D-8C2F-99BF77A4694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035722" y="1179512"/>
            <a:ext cx="5548869" cy="4498971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2931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8E201-A299-44C5-8613-B4E3FD21E4FC}" type="datetimeFigureOut">
              <a:rPr lang="ko-KR" altLang="en-US" smtClean="0"/>
              <a:pPr/>
              <a:t>2023-09-14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7357-B164-46F8-A95A-F09241D7391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050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8E201-A299-44C5-8613-B4E3FD21E4FC}" type="datetimeFigureOut">
              <a:rPr lang="ko-KR" altLang="en-US" smtClean="0"/>
              <a:pPr/>
              <a:t>2023-09-14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7357-B164-46F8-A95A-F09241D7391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508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8E201-A299-44C5-8613-B4E3FD21E4FC}" type="datetimeFigureOut">
              <a:rPr lang="ko-KR" altLang="en-US" smtClean="0"/>
              <a:pPr/>
              <a:t>2023-09-14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7357-B164-46F8-A95A-F09241D7391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219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8E201-A299-44C5-8613-B4E3FD21E4FC}" type="datetimeFigureOut">
              <a:rPr lang="ko-KR" altLang="en-US" smtClean="0"/>
              <a:pPr/>
              <a:t>2023-09-14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7357-B164-46F8-A95A-F09241D7391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748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8E201-A299-44C5-8613-B4E3FD21E4FC}" type="datetimeFigureOut">
              <a:rPr lang="ko-KR" altLang="en-US" smtClean="0"/>
              <a:pPr/>
              <a:t>2023-09-14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7357-B164-46F8-A95A-F09241D7391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717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68E201-A299-44C5-8613-B4E3FD21E4FC}" type="datetimeFigureOut">
              <a:rPr lang="ko-KR" altLang="en-US" smtClean="0"/>
              <a:pPr/>
              <a:t>2023-09-14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667357-B164-46F8-A95A-F09241D7391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983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9A2244F6-D264-6B0F-0950-B53BDE46D114}"/>
              </a:ext>
            </a:extLst>
          </p:cNvPr>
          <p:cNvSpPr/>
          <p:nvPr/>
        </p:nvSpPr>
        <p:spPr>
          <a:xfrm>
            <a:off x="8717253" y="3094969"/>
            <a:ext cx="1146675" cy="28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LED &amp; TP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control block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2B1D75DA-89C2-4820-B4EC-13EDDAFD04BA}"/>
              </a:ext>
            </a:extLst>
          </p:cNvPr>
          <p:cNvSpPr txBox="1">
            <a:spLocks/>
          </p:cNvSpPr>
          <p:nvPr/>
        </p:nvSpPr>
        <p:spPr>
          <a:xfrm>
            <a:off x="147725" y="13673"/>
            <a:ext cx="11815439" cy="515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FPGA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Block Diagram                                                                     1 / 3</a:t>
            </a:r>
            <a:endParaRPr lang="ko-KR" altLang="en-US" sz="2400" dirty="0">
              <a:solidFill>
                <a:schemeClr val="bg1">
                  <a:lumMod val="9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8AA5EB-99CF-9381-BF3E-F5764E6DF4F1}"/>
              </a:ext>
            </a:extLst>
          </p:cNvPr>
          <p:cNvSpPr txBox="1"/>
          <p:nvPr/>
        </p:nvSpPr>
        <p:spPr>
          <a:xfrm>
            <a:off x="428625" y="561975"/>
            <a:ext cx="8924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 dirty="0">
                <a:latin typeface="+mn-ea"/>
              </a:rPr>
              <a:t>FPGA block diagram : both PS and PL side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382EC0-FE70-A8B6-DFFF-D9B9467431AC}"/>
              </a:ext>
            </a:extLst>
          </p:cNvPr>
          <p:cNvSpPr/>
          <p:nvPr/>
        </p:nvSpPr>
        <p:spPr>
          <a:xfrm>
            <a:off x="3485477" y="1040528"/>
            <a:ext cx="6519487" cy="5527912"/>
          </a:xfrm>
          <a:prstGeom prst="rect">
            <a:avLst/>
          </a:prstGeom>
          <a:noFill/>
          <a:ln w="1905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CA9557-870E-B3F1-81F3-10C817DA42BE}"/>
              </a:ext>
            </a:extLst>
          </p:cNvPr>
          <p:cNvSpPr txBox="1"/>
          <p:nvPr/>
        </p:nvSpPr>
        <p:spPr>
          <a:xfrm>
            <a:off x="5237106" y="1026425"/>
            <a:ext cx="1728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Zynq    XC7Z020</a:t>
            </a:r>
            <a:endParaRPr lang="ko-KR" altLang="en-US" sz="1000" b="1" dirty="0"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D1FDFD1-D7CE-89EA-1EBA-12CC8FAB60A6}"/>
              </a:ext>
            </a:extLst>
          </p:cNvPr>
          <p:cNvSpPr/>
          <p:nvPr/>
        </p:nvSpPr>
        <p:spPr>
          <a:xfrm>
            <a:off x="1565238" y="3819876"/>
            <a:ext cx="1143000" cy="224676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A4E2B7-C552-1D6D-1D75-DCDA84385200}"/>
              </a:ext>
            </a:extLst>
          </p:cNvPr>
          <p:cNvSpPr txBox="1"/>
          <p:nvPr/>
        </p:nvSpPr>
        <p:spPr>
          <a:xfrm>
            <a:off x="1565238" y="3616029"/>
            <a:ext cx="1143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ADC3660</a:t>
            </a:r>
            <a:endParaRPr lang="ko-KR" altLang="en-US" sz="10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6B7FF6-D66F-8FF6-8F4A-363332C27EE6}"/>
              </a:ext>
            </a:extLst>
          </p:cNvPr>
          <p:cNvSpPr txBox="1"/>
          <p:nvPr/>
        </p:nvSpPr>
        <p:spPr>
          <a:xfrm>
            <a:off x="1848702" y="3819876"/>
            <a:ext cx="85953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latin typeface="+mn-ea"/>
              </a:rPr>
              <a:t>SEN</a:t>
            </a:r>
          </a:p>
          <a:p>
            <a:pPr algn="r"/>
            <a:r>
              <a:rPr lang="en-US" altLang="ko-KR" sz="1000" b="1" dirty="0">
                <a:latin typeface="+mn-ea"/>
              </a:rPr>
              <a:t>SCLK</a:t>
            </a:r>
          </a:p>
          <a:p>
            <a:pPr algn="r"/>
            <a:r>
              <a:rPr lang="en-US" altLang="ko-KR" sz="1000" b="1" dirty="0">
                <a:latin typeface="+mn-ea"/>
              </a:rPr>
              <a:t>SDIO</a:t>
            </a:r>
          </a:p>
          <a:p>
            <a:pPr algn="r"/>
            <a:endParaRPr lang="en-US" altLang="ko-KR" sz="1000" b="1" dirty="0">
              <a:latin typeface="+mn-ea"/>
            </a:endParaRPr>
          </a:p>
          <a:p>
            <a:pPr algn="r"/>
            <a:r>
              <a:rPr lang="en-US" altLang="ko-KR" sz="1000" b="1" dirty="0">
                <a:latin typeface="+mn-ea"/>
              </a:rPr>
              <a:t>DCLK</a:t>
            </a:r>
          </a:p>
          <a:p>
            <a:pPr algn="r"/>
            <a:r>
              <a:rPr lang="en-US" altLang="ko-KR" sz="1000" b="1" dirty="0">
                <a:latin typeface="+mn-ea"/>
              </a:rPr>
              <a:t>FCLK</a:t>
            </a:r>
          </a:p>
          <a:p>
            <a:pPr algn="r"/>
            <a:r>
              <a:rPr lang="en-US" altLang="ko-KR" sz="1000" b="1" dirty="0">
                <a:latin typeface="+mn-ea"/>
              </a:rPr>
              <a:t>DA5/6</a:t>
            </a:r>
          </a:p>
          <a:p>
            <a:pPr algn="r"/>
            <a:r>
              <a:rPr lang="en-US" altLang="ko-KR" sz="1000" b="1" dirty="0">
                <a:latin typeface="+mn-ea"/>
              </a:rPr>
              <a:t>DB5/6</a:t>
            </a:r>
          </a:p>
          <a:p>
            <a:pPr algn="r"/>
            <a:endParaRPr lang="en-US" altLang="ko-KR" sz="1000" b="1" dirty="0">
              <a:latin typeface="+mn-ea"/>
            </a:endParaRPr>
          </a:p>
          <a:p>
            <a:pPr algn="r"/>
            <a:r>
              <a:rPr lang="en-US" altLang="ko-KR" sz="1000" b="1" dirty="0">
                <a:latin typeface="+mn-ea"/>
              </a:rPr>
              <a:t>CLKP</a:t>
            </a:r>
          </a:p>
          <a:p>
            <a:pPr algn="r"/>
            <a:r>
              <a:rPr lang="en-US" altLang="ko-KR" sz="1000" b="1" dirty="0">
                <a:latin typeface="+mn-ea"/>
              </a:rPr>
              <a:t>CLKN</a:t>
            </a:r>
          </a:p>
          <a:p>
            <a:pPr algn="r"/>
            <a:r>
              <a:rPr lang="en-US" altLang="ko-KR" sz="1000" b="1" dirty="0">
                <a:latin typeface="+mn-ea"/>
              </a:rPr>
              <a:t>RESET</a:t>
            </a:r>
          </a:p>
          <a:p>
            <a:pPr algn="r"/>
            <a:r>
              <a:rPr lang="en-US" altLang="ko-KR" sz="1000" b="1" dirty="0">
                <a:latin typeface="+mn-ea"/>
              </a:rPr>
              <a:t>PDN</a:t>
            </a:r>
          </a:p>
          <a:p>
            <a:pPr algn="r"/>
            <a:r>
              <a:rPr lang="en-US" altLang="ko-KR" sz="1000" b="1" dirty="0">
                <a:latin typeface="+mn-ea"/>
              </a:rPr>
              <a:t>DCLKIN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EF0C16B-E8A2-1F31-3EBE-DF9152EE45F6}"/>
              </a:ext>
            </a:extLst>
          </p:cNvPr>
          <p:cNvCxnSpPr>
            <a:cxnSpLocks/>
          </p:cNvCxnSpPr>
          <p:nvPr/>
        </p:nvCxnSpPr>
        <p:spPr>
          <a:xfrm flipH="1">
            <a:off x="2730659" y="5319573"/>
            <a:ext cx="9154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E996174-BF13-22B3-8E8D-754B7E1C0350}"/>
              </a:ext>
            </a:extLst>
          </p:cNvPr>
          <p:cNvCxnSpPr>
            <a:cxnSpLocks/>
          </p:cNvCxnSpPr>
          <p:nvPr/>
        </p:nvCxnSpPr>
        <p:spPr>
          <a:xfrm flipH="1">
            <a:off x="2730659" y="5475021"/>
            <a:ext cx="9027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63FE630-5056-AD5F-0D5A-87FB19CAE776}"/>
              </a:ext>
            </a:extLst>
          </p:cNvPr>
          <p:cNvCxnSpPr>
            <a:cxnSpLocks/>
          </p:cNvCxnSpPr>
          <p:nvPr/>
        </p:nvCxnSpPr>
        <p:spPr>
          <a:xfrm flipH="1">
            <a:off x="2730659" y="5630469"/>
            <a:ext cx="9154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F5C76D4-D0A8-D07B-67D3-49E47A13CAC6}"/>
              </a:ext>
            </a:extLst>
          </p:cNvPr>
          <p:cNvCxnSpPr>
            <a:cxnSpLocks/>
          </p:cNvCxnSpPr>
          <p:nvPr/>
        </p:nvCxnSpPr>
        <p:spPr>
          <a:xfrm flipH="1">
            <a:off x="2730659" y="5776773"/>
            <a:ext cx="9154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9A13905-43A0-9967-CAEB-5129B9574F06}"/>
              </a:ext>
            </a:extLst>
          </p:cNvPr>
          <p:cNvCxnSpPr>
            <a:cxnSpLocks/>
          </p:cNvCxnSpPr>
          <p:nvPr/>
        </p:nvCxnSpPr>
        <p:spPr>
          <a:xfrm flipH="1">
            <a:off x="2730659" y="5923077"/>
            <a:ext cx="9154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5EB33D1-32AF-ACF0-486D-6224EA39AB36}"/>
              </a:ext>
            </a:extLst>
          </p:cNvPr>
          <p:cNvCxnSpPr>
            <a:cxnSpLocks/>
          </p:cNvCxnSpPr>
          <p:nvPr/>
        </p:nvCxnSpPr>
        <p:spPr>
          <a:xfrm>
            <a:off x="2743290" y="4859244"/>
            <a:ext cx="8901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AE5B794-D3B7-A8EC-48A3-E6992CF3EFA5}"/>
              </a:ext>
            </a:extLst>
          </p:cNvPr>
          <p:cNvCxnSpPr>
            <a:cxnSpLocks/>
          </p:cNvCxnSpPr>
          <p:nvPr/>
        </p:nvCxnSpPr>
        <p:spPr>
          <a:xfrm>
            <a:off x="2743290" y="5014692"/>
            <a:ext cx="8901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DC6B1F1-C22D-3271-DD83-02ABCCDBF942}"/>
              </a:ext>
            </a:extLst>
          </p:cNvPr>
          <p:cNvCxnSpPr>
            <a:cxnSpLocks/>
          </p:cNvCxnSpPr>
          <p:nvPr/>
        </p:nvCxnSpPr>
        <p:spPr>
          <a:xfrm flipH="1">
            <a:off x="2721087" y="3936008"/>
            <a:ext cx="9123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74EE567-E9B4-2C68-96DA-316C5FAB207D}"/>
              </a:ext>
            </a:extLst>
          </p:cNvPr>
          <p:cNvCxnSpPr>
            <a:cxnSpLocks/>
          </p:cNvCxnSpPr>
          <p:nvPr/>
        </p:nvCxnSpPr>
        <p:spPr>
          <a:xfrm flipH="1">
            <a:off x="2721087" y="4091456"/>
            <a:ext cx="8878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0A13D7F-4D18-732E-4492-A86962FE4683}"/>
              </a:ext>
            </a:extLst>
          </p:cNvPr>
          <p:cNvCxnSpPr>
            <a:cxnSpLocks/>
          </p:cNvCxnSpPr>
          <p:nvPr/>
        </p:nvCxnSpPr>
        <p:spPr>
          <a:xfrm flipH="1">
            <a:off x="2721087" y="4237760"/>
            <a:ext cx="91235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BF6CAD7-23B4-7743-B5A7-545C9E2C346D}"/>
              </a:ext>
            </a:extLst>
          </p:cNvPr>
          <p:cNvCxnSpPr>
            <a:cxnSpLocks/>
          </p:cNvCxnSpPr>
          <p:nvPr/>
        </p:nvCxnSpPr>
        <p:spPr>
          <a:xfrm>
            <a:off x="964817" y="2521490"/>
            <a:ext cx="25206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C618A54-B672-9D8B-8FA2-3F6D5DAD3763}"/>
              </a:ext>
            </a:extLst>
          </p:cNvPr>
          <p:cNvSpPr txBox="1"/>
          <p:nvPr/>
        </p:nvSpPr>
        <p:spPr>
          <a:xfrm>
            <a:off x="2849892" y="2318414"/>
            <a:ext cx="6702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PS_CLK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02555C-85C5-4813-195F-682787703E37}"/>
              </a:ext>
            </a:extLst>
          </p:cNvPr>
          <p:cNvSpPr txBox="1"/>
          <p:nvPr/>
        </p:nvSpPr>
        <p:spPr>
          <a:xfrm>
            <a:off x="164290" y="2390868"/>
            <a:ext cx="8595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latin typeface="+mn-ea"/>
              </a:rPr>
              <a:t>50MHz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E9954C-A6A6-41D3-E5C2-2A43664FFB97}"/>
              </a:ext>
            </a:extLst>
          </p:cNvPr>
          <p:cNvSpPr txBox="1"/>
          <p:nvPr/>
        </p:nvSpPr>
        <p:spPr>
          <a:xfrm>
            <a:off x="2717513" y="5272373"/>
            <a:ext cx="7553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10MHz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941D9B-3E5D-7986-0637-0E222A5638E2}"/>
              </a:ext>
            </a:extLst>
          </p:cNvPr>
          <p:cNvSpPr txBox="1"/>
          <p:nvPr/>
        </p:nvSpPr>
        <p:spPr>
          <a:xfrm>
            <a:off x="2707941" y="3898642"/>
            <a:ext cx="7553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5MHz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937C352-B9D4-1920-DAD5-A5CD4AA75E0C}"/>
              </a:ext>
            </a:extLst>
          </p:cNvPr>
          <p:cNvSpPr/>
          <p:nvPr/>
        </p:nvSpPr>
        <p:spPr>
          <a:xfrm>
            <a:off x="3651646" y="2241283"/>
            <a:ext cx="594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ARM PLL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B80B84D5-32C3-4EF3-D8CB-EEE29F1DBBBA}"/>
              </a:ext>
            </a:extLst>
          </p:cNvPr>
          <p:cNvCxnSpPr>
            <a:cxnSpLocks/>
          </p:cNvCxnSpPr>
          <p:nvPr/>
        </p:nvCxnSpPr>
        <p:spPr>
          <a:xfrm>
            <a:off x="2743290" y="4557492"/>
            <a:ext cx="8901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5241E2EC-CFB4-EC2D-1B06-628B1362889A}"/>
              </a:ext>
            </a:extLst>
          </p:cNvPr>
          <p:cNvCxnSpPr>
            <a:cxnSpLocks/>
          </p:cNvCxnSpPr>
          <p:nvPr/>
        </p:nvCxnSpPr>
        <p:spPr>
          <a:xfrm>
            <a:off x="2743290" y="4703796"/>
            <a:ext cx="8901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EB89925-6C54-EAC3-7C0D-BD9698C72197}"/>
              </a:ext>
            </a:extLst>
          </p:cNvPr>
          <p:cNvSpPr txBox="1"/>
          <p:nvPr/>
        </p:nvSpPr>
        <p:spPr>
          <a:xfrm>
            <a:off x="2717513" y="5730263"/>
            <a:ext cx="7553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40MHz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AF6BFF5-EF12-6DB6-0862-901A82EA1F4F}"/>
              </a:ext>
            </a:extLst>
          </p:cNvPr>
          <p:cNvSpPr/>
          <p:nvPr/>
        </p:nvSpPr>
        <p:spPr>
          <a:xfrm>
            <a:off x="3646137" y="5243075"/>
            <a:ext cx="792000" cy="7403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ADC clock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control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block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A59C85A-FA6E-2B37-CF94-0420FEDD54DB}"/>
              </a:ext>
            </a:extLst>
          </p:cNvPr>
          <p:cNvSpPr/>
          <p:nvPr/>
        </p:nvSpPr>
        <p:spPr>
          <a:xfrm>
            <a:off x="3646068" y="4453268"/>
            <a:ext cx="792000" cy="65836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ADC data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Rx block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C0D838C-0911-8A8E-51AE-B98F4B4A961D}"/>
              </a:ext>
            </a:extLst>
          </p:cNvPr>
          <p:cNvSpPr txBox="1"/>
          <p:nvPr/>
        </p:nvSpPr>
        <p:spPr>
          <a:xfrm>
            <a:off x="2747577" y="4677629"/>
            <a:ext cx="7553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x64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ECC7D84-93E4-BFA1-AEEF-977E2D241C02}"/>
              </a:ext>
            </a:extLst>
          </p:cNvPr>
          <p:cNvSpPr txBox="1"/>
          <p:nvPr/>
        </p:nvSpPr>
        <p:spPr>
          <a:xfrm>
            <a:off x="2758004" y="4835008"/>
            <a:ext cx="7553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x1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90DBC8B-0DC5-3D84-C2B1-0F750ED70F05}"/>
              </a:ext>
            </a:extLst>
          </p:cNvPr>
          <p:cNvSpPr txBox="1"/>
          <p:nvPr/>
        </p:nvSpPr>
        <p:spPr>
          <a:xfrm>
            <a:off x="2738433" y="4364678"/>
            <a:ext cx="7553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40MHz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E6AEFF7-5AE6-860A-85BD-DE8763C3A793}"/>
              </a:ext>
            </a:extLst>
          </p:cNvPr>
          <p:cNvSpPr txBox="1"/>
          <p:nvPr/>
        </p:nvSpPr>
        <p:spPr>
          <a:xfrm>
            <a:off x="2733762" y="4519575"/>
            <a:ext cx="7553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5MHz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6869E88-6ECC-97D3-2207-A6D9D4E2A02A}"/>
              </a:ext>
            </a:extLst>
          </p:cNvPr>
          <p:cNvSpPr/>
          <p:nvPr/>
        </p:nvSpPr>
        <p:spPr>
          <a:xfrm>
            <a:off x="5062828" y="4539180"/>
            <a:ext cx="1030381" cy="6259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ADC data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mixing &amp; gain correction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block</a:t>
            </a:r>
          </a:p>
        </p:txBody>
      </p: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2CA1EB84-1F33-C85E-19E1-1EA75E7D90B5}"/>
              </a:ext>
            </a:extLst>
          </p:cNvPr>
          <p:cNvCxnSpPr>
            <a:cxnSpLocks/>
          </p:cNvCxnSpPr>
          <p:nvPr/>
        </p:nvCxnSpPr>
        <p:spPr>
          <a:xfrm>
            <a:off x="4438576" y="5014692"/>
            <a:ext cx="613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9339B3B0-889A-571A-98AE-BCE0901B8C7D}"/>
              </a:ext>
            </a:extLst>
          </p:cNvPr>
          <p:cNvSpPr txBox="1"/>
          <p:nvPr/>
        </p:nvSpPr>
        <p:spPr>
          <a:xfrm>
            <a:off x="4429886" y="4835359"/>
            <a:ext cx="266433" cy="246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x1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900DC67-C22A-3860-6C81-0D2184E30AFF}"/>
              </a:ext>
            </a:extLst>
          </p:cNvPr>
          <p:cNvSpPr txBox="1"/>
          <p:nvPr/>
        </p:nvSpPr>
        <p:spPr>
          <a:xfrm>
            <a:off x="4446296" y="4681703"/>
            <a:ext cx="29431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x64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54DDA194-3514-8DFC-732A-52504BCBEAB5}"/>
              </a:ext>
            </a:extLst>
          </p:cNvPr>
          <p:cNvSpPr/>
          <p:nvPr/>
        </p:nvSpPr>
        <p:spPr>
          <a:xfrm>
            <a:off x="10550293" y="4008234"/>
            <a:ext cx="1070441" cy="5100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DDR3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MT41K256M16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(16-bit, 256M)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207AEBF5-C14B-6D0A-0BF3-EB33B9AF334F}"/>
              </a:ext>
            </a:extLst>
          </p:cNvPr>
          <p:cNvSpPr/>
          <p:nvPr/>
        </p:nvSpPr>
        <p:spPr>
          <a:xfrm>
            <a:off x="6716566" y="5038820"/>
            <a:ext cx="702692" cy="4608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Peak 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detect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block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id="{1D530FED-9075-7C60-0553-FF6353789EC0}"/>
              </a:ext>
            </a:extLst>
          </p:cNvPr>
          <p:cNvCxnSpPr>
            <a:cxnSpLocks/>
          </p:cNvCxnSpPr>
          <p:nvPr/>
        </p:nvCxnSpPr>
        <p:spPr>
          <a:xfrm>
            <a:off x="8226445" y="4110142"/>
            <a:ext cx="22954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B749EA49-9264-666D-C3F1-785A66D6D5C0}"/>
              </a:ext>
            </a:extLst>
          </p:cNvPr>
          <p:cNvCxnSpPr>
            <a:cxnSpLocks/>
          </p:cNvCxnSpPr>
          <p:nvPr/>
        </p:nvCxnSpPr>
        <p:spPr>
          <a:xfrm>
            <a:off x="3502911" y="3061254"/>
            <a:ext cx="6502053" cy="0"/>
          </a:xfrm>
          <a:prstGeom prst="straightConnector1">
            <a:avLst/>
          </a:prstGeom>
          <a:ln w="19050">
            <a:solidFill>
              <a:srgbClr val="0000FF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TextBox 201">
            <a:extLst>
              <a:ext uri="{FF2B5EF4-FFF2-40B4-BE49-F238E27FC236}">
                <a16:creationId xmlns:a16="http://schemas.microsoft.com/office/drawing/2014/main" id="{238D0A4C-1CE9-6AD5-3949-C0EB39EF0A2F}"/>
              </a:ext>
            </a:extLst>
          </p:cNvPr>
          <p:cNvSpPr txBox="1"/>
          <p:nvPr/>
        </p:nvSpPr>
        <p:spPr>
          <a:xfrm>
            <a:off x="3417567" y="1002363"/>
            <a:ext cx="859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PS side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72458D12-F99B-BB91-C248-2F13199E5720}"/>
              </a:ext>
            </a:extLst>
          </p:cNvPr>
          <p:cNvSpPr txBox="1"/>
          <p:nvPr/>
        </p:nvSpPr>
        <p:spPr>
          <a:xfrm>
            <a:off x="3419808" y="3007960"/>
            <a:ext cx="859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PL side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6D9883DE-39DB-9D7B-D0D8-51B18D0A6DE9}"/>
              </a:ext>
            </a:extLst>
          </p:cNvPr>
          <p:cNvSpPr/>
          <p:nvPr/>
        </p:nvSpPr>
        <p:spPr>
          <a:xfrm>
            <a:off x="1226910" y="1197269"/>
            <a:ext cx="1143000" cy="6327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Ethernet PHY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(RTL8211)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05" name="직선 화살표 연결선 204">
            <a:extLst>
              <a:ext uri="{FF2B5EF4-FFF2-40B4-BE49-F238E27FC236}">
                <a16:creationId xmlns:a16="http://schemas.microsoft.com/office/drawing/2014/main" id="{A0D2A52B-E15B-4C8D-3DE2-47B89A6588AA}"/>
              </a:ext>
            </a:extLst>
          </p:cNvPr>
          <p:cNvCxnSpPr>
            <a:cxnSpLocks/>
          </p:cNvCxnSpPr>
          <p:nvPr/>
        </p:nvCxnSpPr>
        <p:spPr>
          <a:xfrm flipH="1">
            <a:off x="2369910" y="1332929"/>
            <a:ext cx="5564415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C76C86D9-2253-55E9-602B-A03502F7D502}"/>
              </a:ext>
            </a:extLst>
          </p:cNvPr>
          <p:cNvSpPr txBox="1"/>
          <p:nvPr/>
        </p:nvSpPr>
        <p:spPr>
          <a:xfrm>
            <a:off x="164290" y="1343311"/>
            <a:ext cx="591382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LAN</a:t>
            </a:r>
          </a:p>
          <a:p>
            <a:pPr algn="ctr"/>
            <a:r>
              <a:rPr lang="en-US" altLang="ko-KR" sz="1000" b="1" dirty="0">
                <a:latin typeface="+mn-ea"/>
              </a:rPr>
              <a:t>(10/100)</a:t>
            </a:r>
          </a:p>
        </p:txBody>
      </p:sp>
      <p:cxnSp>
        <p:nvCxnSpPr>
          <p:cNvPr id="230" name="직선 화살표 연결선 229">
            <a:extLst>
              <a:ext uri="{FF2B5EF4-FFF2-40B4-BE49-F238E27FC236}">
                <a16:creationId xmlns:a16="http://schemas.microsoft.com/office/drawing/2014/main" id="{C4D582BA-84E6-157D-C585-0DE823DD56C3}"/>
              </a:ext>
            </a:extLst>
          </p:cNvPr>
          <p:cNvCxnSpPr>
            <a:cxnSpLocks/>
          </p:cNvCxnSpPr>
          <p:nvPr/>
        </p:nvCxnSpPr>
        <p:spPr>
          <a:xfrm flipV="1">
            <a:off x="1820052" y="1861128"/>
            <a:ext cx="0" cy="6696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화살표 연결선 241">
            <a:extLst>
              <a:ext uri="{FF2B5EF4-FFF2-40B4-BE49-F238E27FC236}">
                <a16:creationId xmlns:a16="http://schemas.microsoft.com/office/drawing/2014/main" id="{82296970-92F9-492E-E2CF-33FB5EF165F3}"/>
              </a:ext>
            </a:extLst>
          </p:cNvPr>
          <p:cNvCxnSpPr>
            <a:cxnSpLocks/>
          </p:cNvCxnSpPr>
          <p:nvPr/>
        </p:nvCxnSpPr>
        <p:spPr>
          <a:xfrm>
            <a:off x="2708238" y="3309299"/>
            <a:ext cx="9417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직선 화살표 연결선 243">
            <a:extLst>
              <a:ext uri="{FF2B5EF4-FFF2-40B4-BE49-F238E27FC236}">
                <a16:creationId xmlns:a16="http://schemas.microsoft.com/office/drawing/2014/main" id="{D668A02A-862F-A6B2-8459-6FE3724B1CB1}"/>
              </a:ext>
            </a:extLst>
          </p:cNvPr>
          <p:cNvCxnSpPr>
            <a:cxnSpLocks/>
          </p:cNvCxnSpPr>
          <p:nvPr/>
        </p:nvCxnSpPr>
        <p:spPr>
          <a:xfrm flipV="1">
            <a:off x="2708238" y="1738018"/>
            <a:ext cx="0" cy="157128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TextBox 253">
            <a:extLst>
              <a:ext uri="{FF2B5EF4-FFF2-40B4-BE49-F238E27FC236}">
                <a16:creationId xmlns:a16="http://schemas.microsoft.com/office/drawing/2014/main" id="{04C374BC-0264-F142-94CB-2FD7632A67F0}"/>
              </a:ext>
            </a:extLst>
          </p:cNvPr>
          <p:cNvSpPr txBox="1"/>
          <p:nvPr/>
        </p:nvSpPr>
        <p:spPr>
          <a:xfrm>
            <a:off x="3608920" y="3192170"/>
            <a:ext cx="8595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CLK125M</a:t>
            </a:r>
          </a:p>
        </p:txBody>
      </p:sp>
      <p:cxnSp>
        <p:nvCxnSpPr>
          <p:cNvPr id="262" name="직선 화살표 연결선 261">
            <a:extLst>
              <a:ext uri="{FF2B5EF4-FFF2-40B4-BE49-F238E27FC236}">
                <a16:creationId xmlns:a16="http://schemas.microsoft.com/office/drawing/2014/main" id="{344FF68D-701D-370E-495C-C9CA1B467439}"/>
              </a:ext>
            </a:extLst>
          </p:cNvPr>
          <p:cNvCxnSpPr>
            <a:cxnSpLocks/>
          </p:cNvCxnSpPr>
          <p:nvPr/>
        </p:nvCxnSpPr>
        <p:spPr>
          <a:xfrm flipH="1">
            <a:off x="2369910" y="1543366"/>
            <a:ext cx="14400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화살표 연결선 263">
            <a:extLst>
              <a:ext uri="{FF2B5EF4-FFF2-40B4-BE49-F238E27FC236}">
                <a16:creationId xmlns:a16="http://schemas.microsoft.com/office/drawing/2014/main" id="{726067F0-8DD4-3C56-FF20-D5C57DBA203A}"/>
              </a:ext>
            </a:extLst>
          </p:cNvPr>
          <p:cNvCxnSpPr>
            <a:cxnSpLocks/>
          </p:cNvCxnSpPr>
          <p:nvPr/>
        </p:nvCxnSpPr>
        <p:spPr>
          <a:xfrm flipH="1">
            <a:off x="734677" y="1507211"/>
            <a:ext cx="49223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TextBox 265">
            <a:extLst>
              <a:ext uri="{FF2B5EF4-FFF2-40B4-BE49-F238E27FC236}">
                <a16:creationId xmlns:a16="http://schemas.microsoft.com/office/drawing/2014/main" id="{C882FD59-7823-C503-1D4A-E72D5ED3FF25}"/>
              </a:ext>
            </a:extLst>
          </p:cNvPr>
          <p:cNvSpPr txBox="1"/>
          <p:nvPr/>
        </p:nvSpPr>
        <p:spPr>
          <a:xfrm>
            <a:off x="2437821" y="1148719"/>
            <a:ext cx="8595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GMII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5B25D599-1958-B79E-D54E-BF4A4D3F34E7}"/>
              </a:ext>
            </a:extLst>
          </p:cNvPr>
          <p:cNvSpPr txBox="1"/>
          <p:nvPr/>
        </p:nvSpPr>
        <p:spPr>
          <a:xfrm>
            <a:off x="2447121" y="1368979"/>
            <a:ext cx="8595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MDIO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67E7AFFF-2772-42CA-69F2-7420E34678D2}"/>
              </a:ext>
            </a:extLst>
          </p:cNvPr>
          <p:cNvSpPr txBox="1"/>
          <p:nvPr/>
        </p:nvSpPr>
        <p:spPr>
          <a:xfrm>
            <a:off x="124112" y="5029880"/>
            <a:ext cx="786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Analog</a:t>
            </a:r>
          </a:p>
          <a:p>
            <a:pPr algn="ctr"/>
            <a:r>
              <a:rPr lang="en-US" altLang="ko-KR" sz="1000" b="1" dirty="0">
                <a:latin typeface="+mn-ea"/>
              </a:rPr>
              <a:t>PD</a:t>
            </a:r>
          </a:p>
          <a:p>
            <a:pPr algn="ctr"/>
            <a:r>
              <a:rPr lang="en-US" altLang="ko-KR" sz="1000" b="1" dirty="0">
                <a:latin typeface="+mn-ea"/>
              </a:rPr>
              <a:t>signal</a:t>
            </a:r>
          </a:p>
        </p:txBody>
      </p:sp>
      <p:cxnSp>
        <p:nvCxnSpPr>
          <p:cNvPr id="370" name="직선 화살표 연결선 369">
            <a:extLst>
              <a:ext uri="{FF2B5EF4-FFF2-40B4-BE49-F238E27FC236}">
                <a16:creationId xmlns:a16="http://schemas.microsoft.com/office/drawing/2014/main" id="{25A16807-9095-EFC0-DACE-64E788D87D89}"/>
              </a:ext>
            </a:extLst>
          </p:cNvPr>
          <p:cNvCxnSpPr>
            <a:cxnSpLocks/>
          </p:cNvCxnSpPr>
          <p:nvPr/>
        </p:nvCxnSpPr>
        <p:spPr>
          <a:xfrm>
            <a:off x="980793" y="3448304"/>
            <a:ext cx="2669187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TextBox 370">
            <a:extLst>
              <a:ext uri="{FF2B5EF4-FFF2-40B4-BE49-F238E27FC236}">
                <a16:creationId xmlns:a16="http://schemas.microsoft.com/office/drawing/2014/main" id="{B1E7A99A-9D3D-223C-EC78-E7E8E1B4ABFB}"/>
              </a:ext>
            </a:extLst>
          </p:cNvPr>
          <p:cNvSpPr txBox="1"/>
          <p:nvPr/>
        </p:nvSpPr>
        <p:spPr>
          <a:xfrm>
            <a:off x="178902" y="3315280"/>
            <a:ext cx="8595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50MHz</a:t>
            </a:r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6458ADA3-00A5-2F5C-B020-CDB4F634C80A}"/>
              </a:ext>
            </a:extLst>
          </p:cNvPr>
          <p:cNvSpPr txBox="1"/>
          <p:nvPr/>
        </p:nvSpPr>
        <p:spPr>
          <a:xfrm>
            <a:off x="3608920" y="3320282"/>
            <a:ext cx="8595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CLKP/N</a:t>
            </a:r>
          </a:p>
        </p:txBody>
      </p:sp>
      <p:cxnSp>
        <p:nvCxnSpPr>
          <p:cNvPr id="376" name="직선 화살표 연결선 375">
            <a:extLst>
              <a:ext uri="{FF2B5EF4-FFF2-40B4-BE49-F238E27FC236}">
                <a16:creationId xmlns:a16="http://schemas.microsoft.com/office/drawing/2014/main" id="{9376A706-9C95-FA07-8D58-2C2F8AF98E7E}"/>
              </a:ext>
            </a:extLst>
          </p:cNvPr>
          <p:cNvCxnSpPr>
            <a:cxnSpLocks/>
          </p:cNvCxnSpPr>
          <p:nvPr/>
        </p:nvCxnSpPr>
        <p:spPr>
          <a:xfrm>
            <a:off x="6235742" y="5281573"/>
            <a:ext cx="4871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7" name="직사각형 386">
            <a:extLst>
              <a:ext uri="{FF2B5EF4-FFF2-40B4-BE49-F238E27FC236}">
                <a16:creationId xmlns:a16="http://schemas.microsoft.com/office/drawing/2014/main" id="{A85F5104-FC10-2AED-5E42-D2008E56FEF3}"/>
              </a:ext>
            </a:extLst>
          </p:cNvPr>
          <p:cNvSpPr/>
          <p:nvPr/>
        </p:nvSpPr>
        <p:spPr>
          <a:xfrm>
            <a:off x="1565238" y="6097826"/>
            <a:ext cx="1143000" cy="4157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 LPF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99" name="그림 398">
            <a:extLst>
              <a:ext uri="{FF2B5EF4-FFF2-40B4-BE49-F238E27FC236}">
                <a16:creationId xmlns:a16="http://schemas.microsoft.com/office/drawing/2014/main" id="{9E1AC149-1394-5EE0-A1A6-FDD19E7F5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126" y="6160268"/>
            <a:ext cx="520118" cy="301691"/>
          </a:xfrm>
          <a:prstGeom prst="rect">
            <a:avLst/>
          </a:prstGeom>
        </p:spPr>
      </p:pic>
      <p:cxnSp>
        <p:nvCxnSpPr>
          <p:cNvPr id="400" name="직선 화살표 연결선 399">
            <a:extLst>
              <a:ext uri="{FF2B5EF4-FFF2-40B4-BE49-F238E27FC236}">
                <a16:creationId xmlns:a16="http://schemas.microsoft.com/office/drawing/2014/main" id="{A340E7BC-BCF4-781F-0839-F8DD79BE2633}"/>
              </a:ext>
            </a:extLst>
          </p:cNvPr>
          <p:cNvCxnSpPr>
            <a:cxnSpLocks/>
          </p:cNvCxnSpPr>
          <p:nvPr/>
        </p:nvCxnSpPr>
        <p:spPr>
          <a:xfrm>
            <a:off x="919467" y="6300699"/>
            <a:ext cx="635031" cy="0"/>
          </a:xfrm>
          <a:prstGeom prst="straightConnector1">
            <a:avLst/>
          </a:prstGeom>
          <a:ln>
            <a:solidFill>
              <a:srgbClr val="3366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직선 화살표 연결선 404">
            <a:extLst>
              <a:ext uri="{FF2B5EF4-FFF2-40B4-BE49-F238E27FC236}">
                <a16:creationId xmlns:a16="http://schemas.microsoft.com/office/drawing/2014/main" id="{39B43D29-5D98-6F44-38D3-925869736AEE}"/>
              </a:ext>
            </a:extLst>
          </p:cNvPr>
          <p:cNvCxnSpPr>
            <a:cxnSpLocks/>
          </p:cNvCxnSpPr>
          <p:nvPr/>
        </p:nvCxnSpPr>
        <p:spPr>
          <a:xfrm>
            <a:off x="2708238" y="6305682"/>
            <a:ext cx="2354590" cy="0"/>
          </a:xfrm>
          <a:prstGeom prst="straightConnector1">
            <a:avLst/>
          </a:prstGeom>
          <a:ln>
            <a:solidFill>
              <a:srgbClr val="3366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7" name="TextBox 406">
            <a:extLst>
              <a:ext uri="{FF2B5EF4-FFF2-40B4-BE49-F238E27FC236}">
                <a16:creationId xmlns:a16="http://schemas.microsoft.com/office/drawing/2014/main" id="{F1213050-73EE-9B0E-6544-A939158E20A2}"/>
              </a:ext>
            </a:extLst>
          </p:cNvPr>
          <p:cNvSpPr txBox="1"/>
          <p:nvPr/>
        </p:nvSpPr>
        <p:spPr>
          <a:xfrm>
            <a:off x="3520141" y="6095321"/>
            <a:ext cx="11901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3366FF"/>
                </a:solidFill>
                <a:latin typeface="+mn-ea"/>
              </a:rPr>
              <a:t>reference </a:t>
            </a:r>
          </a:p>
          <a:p>
            <a:pPr algn="ctr"/>
            <a:r>
              <a:rPr lang="en-US" altLang="ko-KR" sz="1000" b="1" dirty="0">
                <a:solidFill>
                  <a:srgbClr val="3366FF"/>
                </a:solidFill>
                <a:latin typeface="+mn-ea"/>
              </a:rPr>
              <a:t>voltage</a:t>
            </a:r>
          </a:p>
        </p:txBody>
      </p:sp>
      <p:sp>
        <p:nvSpPr>
          <p:cNvPr id="410" name="직사각형 409">
            <a:extLst>
              <a:ext uri="{FF2B5EF4-FFF2-40B4-BE49-F238E27FC236}">
                <a16:creationId xmlns:a16="http://schemas.microsoft.com/office/drawing/2014/main" id="{690C4388-659D-7544-A19C-551E108DE82B}"/>
              </a:ext>
            </a:extLst>
          </p:cNvPr>
          <p:cNvSpPr/>
          <p:nvPr/>
        </p:nvSpPr>
        <p:spPr>
          <a:xfrm>
            <a:off x="4270478" y="2974886"/>
            <a:ext cx="155923" cy="17020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3CACEC52-8405-C3A9-C01A-1A399871BF47}"/>
              </a:ext>
            </a:extLst>
          </p:cNvPr>
          <p:cNvSpPr txBox="1"/>
          <p:nvPr/>
        </p:nvSpPr>
        <p:spPr>
          <a:xfrm>
            <a:off x="3813877" y="3582584"/>
            <a:ext cx="10967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FCLK1(160M)</a:t>
            </a:r>
          </a:p>
        </p:txBody>
      </p:sp>
      <p:cxnSp>
        <p:nvCxnSpPr>
          <p:cNvPr id="416" name="직선 화살표 연결선 415">
            <a:extLst>
              <a:ext uri="{FF2B5EF4-FFF2-40B4-BE49-F238E27FC236}">
                <a16:creationId xmlns:a16="http://schemas.microsoft.com/office/drawing/2014/main" id="{D92A976F-4FDF-DCB6-1C94-366250297B4C}"/>
              </a:ext>
            </a:extLst>
          </p:cNvPr>
          <p:cNvCxnSpPr>
            <a:cxnSpLocks/>
          </p:cNvCxnSpPr>
          <p:nvPr/>
        </p:nvCxnSpPr>
        <p:spPr>
          <a:xfrm flipH="1">
            <a:off x="6504292" y="6301041"/>
            <a:ext cx="37778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8" name="TextBox 417">
            <a:extLst>
              <a:ext uri="{FF2B5EF4-FFF2-40B4-BE49-F238E27FC236}">
                <a16:creationId xmlns:a16="http://schemas.microsoft.com/office/drawing/2014/main" id="{97BC284A-12B1-5BB7-0B55-4B960097E980}"/>
              </a:ext>
            </a:extLst>
          </p:cNvPr>
          <p:cNvSpPr txBox="1"/>
          <p:nvPr/>
        </p:nvSpPr>
        <p:spPr>
          <a:xfrm>
            <a:off x="10282177" y="5875654"/>
            <a:ext cx="178359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temperature sensor (4ea)</a:t>
            </a:r>
          </a:p>
          <a:p>
            <a:r>
              <a:rPr lang="en-US" altLang="ko-KR" sz="1000" b="1" dirty="0">
                <a:latin typeface="+mn-ea"/>
              </a:rPr>
              <a:t>- laser temperature</a:t>
            </a:r>
          </a:p>
          <a:p>
            <a:r>
              <a:rPr lang="en-US" altLang="ko-KR" sz="1000" b="1" dirty="0">
                <a:latin typeface="+mn-ea"/>
              </a:rPr>
              <a:t>- env. temperature</a:t>
            </a:r>
          </a:p>
        </p:txBody>
      </p:sp>
      <p:sp>
        <p:nvSpPr>
          <p:cNvPr id="420" name="직사각형 419">
            <a:extLst>
              <a:ext uri="{FF2B5EF4-FFF2-40B4-BE49-F238E27FC236}">
                <a16:creationId xmlns:a16="http://schemas.microsoft.com/office/drawing/2014/main" id="{F1FDBB07-2B97-F00E-291D-ECD7ED662E74}"/>
              </a:ext>
            </a:extLst>
          </p:cNvPr>
          <p:cNvSpPr/>
          <p:nvPr/>
        </p:nvSpPr>
        <p:spPr>
          <a:xfrm>
            <a:off x="3650376" y="2423979"/>
            <a:ext cx="594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DDR PLL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21" name="직사각형 420">
            <a:extLst>
              <a:ext uri="{FF2B5EF4-FFF2-40B4-BE49-F238E27FC236}">
                <a16:creationId xmlns:a16="http://schemas.microsoft.com/office/drawing/2014/main" id="{0733725C-3D63-49F3-D01A-65A5CFFE8684}"/>
              </a:ext>
            </a:extLst>
          </p:cNvPr>
          <p:cNvSpPr/>
          <p:nvPr/>
        </p:nvSpPr>
        <p:spPr>
          <a:xfrm>
            <a:off x="3650376" y="2596294"/>
            <a:ext cx="594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IO PLL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22" name="직선 화살표 연결선 421">
            <a:extLst>
              <a:ext uri="{FF2B5EF4-FFF2-40B4-BE49-F238E27FC236}">
                <a16:creationId xmlns:a16="http://schemas.microsoft.com/office/drawing/2014/main" id="{17A8AB0F-1D63-C642-B5FB-34B9DD689F07}"/>
              </a:ext>
            </a:extLst>
          </p:cNvPr>
          <p:cNvCxnSpPr>
            <a:cxnSpLocks/>
          </p:cNvCxnSpPr>
          <p:nvPr/>
        </p:nvCxnSpPr>
        <p:spPr>
          <a:xfrm>
            <a:off x="4240644" y="2335755"/>
            <a:ext cx="3600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" name="직선 화살표 연결선 423">
            <a:extLst>
              <a:ext uri="{FF2B5EF4-FFF2-40B4-BE49-F238E27FC236}">
                <a16:creationId xmlns:a16="http://schemas.microsoft.com/office/drawing/2014/main" id="{E05E2392-3E69-CD3C-4AB4-A6A865172EFD}"/>
              </a:ext>
            </a:extLst>
          </p:cNvPr>
          <p:cNvCxnSpPr>
            <a:cxnSpLocks/>
          </p:cNvCxnSpPr>
          <p:nvPr/>
        </p:nvCxnSpPr>
        <p:spPr>
          <a:xfrm>
            <a:off x="4240644" y="2505643"/>
            <a:ext cx="36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직선 화살표 연결선 424">
            <a:extLst>
              <a:ext uri="{FF2B5EF4-FFF2-40B4-BE49-F238E27FC236}">
                <a16:creationId xmlns:a16="http://schemas.microsoft.com/office/drawing/2014/main" id="{4DFCAEF4-311E-C852-33B1-B70A1E801143}"/>
              </a:ext>
            </a:extLst>
          </p:cNvPr>
          <p:cNvCxnSpPr>
            <a:cxnSpLocks/>
          </p:cNvCxnSpPr>
          <p:nvPr/>
        </p:nvCxnSpPr>
        <p:spPr>
          <a:xfrm>
            <a:off x="4240644" y="2687779"/>
            <a:ext cx="36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6" name="TextBox 425">
            <a:extLst>
              <a:ext uri="{FF2B5EF4-FFF2-40B4-BE49-F238E27FC236}">
                <a16:creationId xmlns:a16="http://schemas.microsoft.com/office/drawing/2014/main" id="{D923E8F4-094B-6A6C-9E65-C7F156C23F36}"/>
              </a:ext>
            </a:extLst>
          </p:cNvPr>
          <p:cNvSpPr txBox="1"/>
          <p:nvPr/>
        </p:nvSpPr>
        <p:spPr>
          <a:xfrm>
            <a:off x="4537025" y="2381415"/>
            <a:ext cx="624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1000M</a:t>
            </a:r>
          </a:p>
        </p:txBody>
      </p:sp>
      <p:sp>
        <p:nvSpPr>
          <p:cNvPr id="427" name="TextBox 426">
            <a:extLst>
              <a:ext uri="{FF2B5EF4-FFF2-40B4-BE49-F238E27FC236}">
                <a16:creationId xmlns:a16="http://schemas.microsoft.com/office/drawing/2014/main" id="{03740B3D-A787-4F0B-1A12-6A127EAD07F6}"/>
              </a:ext>
            </a:extLst>
          </p:cNvPr>
          <p:cNvSpPr txBox="1"/>
          <p:nvPr/>
        </p:nvSpPr>
        <p:spPr>
          <a:xfrm>
            <a:off x="4614692" y="2564635"/>
            <a:ext cx="5420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800M</a:t>
            </a:r>
          </a:p>
        </p:txBody>
      </p:sp>
      <p:cxnSp>
        <p:nvCxnSpPr>
          <p:cNvPr id="430" name="직선 화살표 연결선 429">
            <a:extLst>
              <a:ext uri="{FF2B5EF4-FFF2-40B4-BE49-F238E27FC236}">
                <a16:creationId xmlns:a16="http://schemas.microsoft.com/office/drawing/2014/main" id="{719BD3BE-2AAF-BDC6-DB31-93A1B7B5F76A}"/>
              </a:ext>
            </a:extLst>
          </p:cNvPr>
          <p:cNvCxnSpPr>
            <a:cxnSpLocks/>
          </p:cNvCxnSpPr>
          <p:nvPr/>
        </p:nvCxnSpPr>
        <p:spPr>
          <a:xfrm>
            <a:off x="4351868" y="2687745"/>
            <a:ext cx="0" cy="2696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직사각형 437">
            <a:extLst>
              <a:ext uri="{FF2B5EF4-FFF2-40B4-BE49-F238E27FC236}">
                <a16:creationId xmlns:a16="http://schemas.microsoft.com/office/drawing/2014/main" id="{BBDD682F-D685-DDA7-03E4-09BC115F2616}"/>
              </a:ext>
            </a:extLst>
          </p:cNvPr>
          <p:cNvSpPr/>
          <p:nvPr/>
        </p:nvSpPr>
        <p:spPr>
          <a:xfrm>
            <a:off x="3646137" y="3867073"/>
            <a:ext cx="792000" cy="48276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ADC control block (SPI)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0" name="이등변 삼각형 439">
            <a:extLst>
              <a:ext uri="{FF2B5EF4-FFF2-40B4-BE49-F238E27FC236}">
                <a16:creationId xmlns:a16="http://schemas.microsoft.com/office/drawing/2014/main" id="{4715E79B-A56B-F3D1-A0CE-F100C629E32D}"/>
              </a:ext>
            </a:extLst>
          </p:cNvPr>
          <p:cNvSpPr/>
          <p:nvPr/>
        </p:nvSpPr>
        <p:spPr>
          <a:xfrm rot="5400000">
            <a:off x="1023340" y="4136523"/>
            <a:ext cx="382524" cy="329762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6" name="직선 화살표 연결선 445">
            <a:extLst>
              <a:ext uri="{FF2B5EF4-FFF2-40B4-BE49-F238E27FC236}">
                <a16:creationId xmlns:a16="http://schemas.microsoft.com/office/drawing/2014/main" id="{6F725A98-0A02-DF98-867C-93DB471FF2FC}"/>
              </a:ext>
            </a:extLst>
          </p:cNvPr>
          <p:cNvCxnSpPr>
            <a:cxnSpLocks/>
          </p:cNvCxnSpPr>
          <p:nvPr/>
        </p:nvCxnSpPr>
        <p:spPr>
          <a:xfrm>
            <a:off x="1364565" y="4301404"/>
            <a:ext cx="630403" cy="0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직선 화살표 연결선 447">
            <a:extLst>
              <a:ext uri="{FF2B5EF4-FFF2-40B4-BE49-F238E27FC236}">
                <a16:creationId xmlns:a16="http://schemas.microsoft.com/office/drawing/2014/main" id="{6D385DAB-686C-1CD5-EA5E-3665D344DF23}"/>
              </a:ext>
            </a:extLst>
          </p:cNvPr>
          <p:cNvCxnSpPr>
            <a:cxnSpLocks/>
          </p:cNvCxnSpPr>
          <p:nvPr/>
        </p:nvCxnSpPr>
        <p:spPr>
          <a:xfrm>
            <a:off x="1994968" y="4300869"/>
            <a:ext cx="0" cy="863175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직선 화살표 연결선 449">
            <a:extLst>
              <a:ext uri="{FF2B5EF4-FFF2-40B4-BE49-F238E27FC236}">
                <a16:creationId xmlns:a16="http://schemas.microsoft.com/office/drawing/2014/main" id="{E0C6DD63-616E-C42B-2348-6AFB58D524AD}"/>
              </a:ext>
            </a:extLst>
          </p:cNvPr>
          <p:cNvCxnSpPr>
            <a:cxnSpLocks/>
          </p:cNvCxnSpPr>
          <p:nvPr/>
        </p:nvCxnSpPr>
        <p:spPr>
          <a:xfrm>
            <a:off x="1994968" y="5164044"/>
            <a:ext cx="189138" cy="0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직선 화살표 연결선 453">
            <a:extLst>
              <a:ext uri="{FF2B5EF4-FFF2-40B4-BE49-F238E27FC236}">
                <a16:creationId xmlns:a16="http://schemas.microsoft.com/office/drawing/2014/main" id="{61D61D04-F38E-23E0-BA6F-BB2107BBA90B}"/>
              </a:ext>
            </a:extLst>
          </p:cNvPr>
          <p:cNvCxnSpPr>
            <a:cxnSpLocks/>
          </p:cNvCxnSpPr>
          <p:nvPr/>
        </p:nvCxnSpPr>
        <p:spPr>
          <a:xfrm>
            <a:off x="919467" y="4300869"/>
            <a:ext cx="0" cy="2010244"/>
          </a:xfrm>
          <a:prstGeom prst="straightConnector1">
            <a:avLst/>
          </a:prstGeom>
          <a:ln>
            <a:solidFill>
              <a:srgbClr val="3366FF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직선 화살표 연결선 454">
            <a:extLst>
              <a:ext uri="{FF2B5EF4-FFF2-40B4-BE49-F238E27FC236}">
                <a16:creationId xmlns:a16="http://schemas.microsoft.com/office/drawing/2014/main" id="{CF54DA8D-FF40-E66D-C4A6-790DC3DCC898}"/>
              </a:ext>
            </a:extLst>
          </p:cNvPr>
          <p:cNvCxnSpPr>
            <a:cxnSpLocks/>
          </p:cNvCxnSpPr>
          <p:nvPr/>
        </p:nvCxnSpPr>
        <p:spPr>
          <a:xfrm>
            <a:off x="919467" y="4300869"/>
            <a:ext cx="130254" cy="0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" name="TextBox 459">
            <a:extLst>
              <a:ext uri="{FF2B5EF4-FFF2-40B4-BE49-F238E27FC236}">
                <a16:creationId xmlns:a16="http://schemas.microsoft.com/office/drawing/2014/main" id="{8BC742F0-A7B8-E6B4-9191-65E278463F8B}"/>
              </a:ext>
            </a:extLst>
          </p:cNvPr>
          <p:cNvSpPr txBox="1"/>
          <p:nvPr/>
        </p:nvSpPr>
        <p:spPr>
          <a:xfrm>
            <a:off x="955775" y="4177488"/>
            <a:ext cx="4281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x64</a:t>
            </a:r>
          </a:p>
        </p:txBody>
      </p:sp>
      <p:cxnSp>
        <p:nvCxnSpPr>
          <p:cNvPr id="463" name="직선 화살표 연결선 462">
            <a:extLst>
              <a:ext uri="{FF2B5EF4-FFF2-40B4-BE49-F238E27FC236}">
                <a16:creationId xmlns:a16="http://schemas.microsoft.com/office/drawing/2014/main" id="{18CCCEE2-CD69-FB85-595B-4D41A6685463}"/>
              </a:ext>
            </a:extLst>
          </p:cNvPr>
          <p:cNvCxnSpPr>
            <a:cxnSpLocks/>
          </p:cNvCxnSpPr>
          <p:nvPr/>
        </p:nvCxnSpPr>
        <p:spPr>
          <a:xfrm>
            <a:off x="755672" y="5305991"/>
            <a:ext cx="1428434" cy="0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직사각형 464">
            <a:extLst>
              <a:ext uri="{FF2B5EF4-FFF2-40B4-BE49-F238E27FC236}">
                <a16:creationId xmlns:a16="http://schemas.microsoft.com/office/drawing/2014/main" id="{B2C75519-0499-A119-D446-25A33F70F82F}"/>
              </a:ext>
            </a:extLst>
          </p:cNvPr>
          <p:cNvSpPr/>
          <p:nvPr/>
        </p:nvSpPr>
        <p:spPr>
          <a:xfrm>
            <a:off x="10495487" y="1030805"/>
            <a:ext cx="1070440" cy="5154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Serial Flash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S25FL128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(16MB)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66" name="직선 화살표 연결선 465">
            <a:extLst>
              <a:ext uri="{FF2B5EF4-FFF2-40B4-BE49-F238E27FC236}">
                <a16:creationId xmlns:a16="http://schemas.microsoft.com/office/drawing/2014/main" id="{B4D186B6-56CA-2675-E62B-7D7D5EAD574D}"/>
              </a:ext>
            </a:extLst>
          </p:cNvPr>
          <p:cNvCxnSpPr>
            <a:cxnSpLocks/>
          </p:cNvCxnSpPr>
          <p:nvPr/>
        </p:nvCxnSpPr>
        <p:spPr>
          <a:xfrm flipH="1">
            <a:off x="9768244" y="1299212"/>
            <a:ext cx="72724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8" name="TextBox 467">
            <a:extLst>
              <a:ext uri="{FF2B5EF4-FFF2-40B4-BE49-F238E27FC236}">
                <a16:creationId xmlns:a16="http://schemas.microsoft.com/office/drawing/2014/main" id="{2BDFDC64-1A1D-FDCC-A8E8-F7E4D23FCE13}"/>
              </a:ext>
            </a:extLst>
          </p:cNvPr>
          <p:cNvSpPr txBox="1"/>
          <p:nvPr/>
        </p:nvSpPr>
        <p:spPr>
          <a:xfrm>
            <a:off x="9982826" y="1101283"/>
            <a:ext cx="43762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QSPI</a:t>
            </a:r>
          </a:p>
        </p:txBody>
      </p:sp>
      <p:cxnSp>
        <p:nvCxnSpPr>
          <p:cNvPr id="469" name="직선 화살표 연결선 468">
            <a:extLst>
              <a:ext uri="{FF2B5EF4-FFF2-40B4-BE49-F238E27FC236}">
                <a16:creationId xmlns:a16="http://schemas.microsoft.com/office/drawing/2014/main" id="{25A22C22-94DC-9442-2D47-9E691AA44BFC}"/>
              </a:ext>
            </a:extLst>
          </p:cNvPr>
          <p:cNvCxnSpPr>
            <a:cxnSpLocks/>
          </p:cNvCxnSpPr>
          <p:nvPr/>
        </p:nvCxnSpPr>
        <p:spPr>
          <a:xfrm flipH="1">
            <a:off x="9134072" y="1831816"/>
            <a:ext cx="141264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" name="TextBox 470">
            <a:extLst>
              <a:ext uri="{FF2B5EF4-FFF2-40B4-BE49-F238E27FC236}">
                <a16:creationId xmlns:a16="http://schemas.microsoft.com/office/drawing/2014/main" id="{17661028-490A-67BD-6903-A9D1F1BA9918}"/>
              </a:ext>
            </a:extLst>
          </p:cNvPr>
          <p:cNvSpPr txBox="1"/>
          <p:nvPr/>
        </p:nvSpPr>
        <p:spPr>
          <a:xfrm>
            <a:off x="10513929" y="1700110"/>
            <a:ext cx="8786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UART</a:t>
            </a: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0CE24D9C-EFC8-831A-5FB0-1801AED26727}"/>
              </a:ext>
            </a:extLst>
          </p:cNvPr>
          <p:cNvSpPr txBox="1"/>
          <p:nvPr/>
        </p:nvSpPr>
        <p:spPr>
          <a:xfrm>
            <a:off x="4537025" y="2211084"/>
            <a:ext cx="624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1000M</a:t>
            </a: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1FD69847-CB29-21D9-8C45-89B6F5B32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315" y="2296008"/>
            <a:ext cx="318135" cy="194310"/>
          </a:xfrm>
          <a:prstGeom prst="rect">
            <a:avLst/>
          </a:prstGeom>
        </p:spPr>
      </p:pic>
      <p:pic>
        <p:nvPicPr>
          <p:cNvPr id="449" name="그림 448">
            <a:extLst>
              <a:ext uri="{FF2B5EF4-FFF2-40B4-BE49-F238E27FC236}">
                <a16:creationId xmlns:a16="http://schemas.microsoft.com/office/drawing/2014/main" id="{C7FC0C12-BFC2-ABA4-CD0C-5FF410F98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5314" y="2854729"/>
            <a:ext cx="316230" cy="194310"/>
          </a:xfrm>
          <a:prstGeom prst="rect">
            <a:avLst/>
          </a:prstGeom>
        </p:spPr>
      </p:pic>
      <p:pic>
        <p:nvPicPr>
          <p:cNvPr id="452" name="그림 451">
            <a:extLst>
              <a:ext uri="{FF2B5EF4-FFF2-40B4-BE49-F238E27FC236}">
                <a16:creationId xmlns:a16="http://schemas.microsoft.com/office/drawing/2014/main" id="{CCB5ACAC-014A-55D3-41F2-F5D7CB5D6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3886" y="2491758"/>
            <a:ext cx="312420" cy="198120"/>
          </a:xfrm>
          <a:prstGeom prst="rect">
            <a:avLst/>
          </a:prstGeom>
        </p:spPr>
      </p:pic>
      <p:pic>
        <p:nvPicPr>
          <p:cNvPr id="453" name="그림 452">
            <a:extLst>
              <a:ext uri="{FF2B5EF4-FFF2-40B4-BE49-F238E27FC236}">
                <a16:creationId xmlns:a16="http://schemas.microsoft.com/office/drawing/2014/main" id="{F39129FA-8682-47BE-7506-65C2E281A7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2077" y="3041448"/>
            <a:ext cx="312420" cy="198120"/>
          </a:xfrm>
          <a:prstGeom prst="rect">
            <a:avLst/>
          </a:prstGeom>
        </p:spPr>
      </p:pic>
      <p:sp>
        <p:nvSpPr>
          <p:cNvPr id="456" name="TextBox 455">
            <a:extLst>
              <a:ext uri="{FF2B5EF4-FFF2-40B4-BE49-F238E27FC236}">
                <a16:creationId xmlns:a16="http://schemas.microsoft.com/office/drawing/2014/main" id="{B88FD371-3A2D-9329-3440-C1195A6D2578}"/>
              </a:ext>
            </a:extLst>
          </p:cNvPr>
          <p:cNvSpPr txBox="1"/>
          <p:nvPr/>
        </p:nvSpPr>
        <p:spPr>
          <a:xfrm>
            <a:off x="10516152" y="2292586"/>
            <a:ext cx="15496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LED2 : MCU run (1 Hz)</a:t>
            </a: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D0C7E63E-CFC1-32AA-D8DC-2D8E006164E6}"/>
              </a:ext>
            </a:extLst>
          </p:cNvPr>
          <p:cNvSpPr txBox="1"/>
          <p:nvPr/>
        </p:nvSpPr>
        <p:spPr>
          <a:xfrm>
            <a:off x="10512269" y="2855518"/>
            <a:ext cx="16658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LED4 : FPGA run (1 Hz)</a:t>
            </a: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0ADBC7B5-BE9B-8DB9-F7C6-066691F32CB6}"/>
              </a:ext>
            </a:extLst>
          </p:cNvPr>
          <p:cNvSpPr txBox="1"/>
          <p:nvPr/>
        </p:nvSpPr>
        <p:spPr>
          <a:xfrm>
            <a:off x="10521868" y="2491118"/>
            <a:ext cx="14072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LED3 : reserved</a:t>
            </a:r>
          </a:p>
        </p:txBody>
      </p:sp>
      <p:cxnSp>
        <p:nvCxnSpPr>
          <p:cNvPr id="467" name="직선 화살표 연결선 466">
            <a:extLst>
              <a:ext uri="{FF2B5EF4-FFF2-40B4-BE49-F238E27FC236}">
                <a16:creationId xmlns:a16="http://schemas.microsoft.com/office/drawing/2014/main" id="{74F23C1A-85AB-5AD3-1299-1E99A3789593}"/>
              </a:ext>
            </a:extLst>
          </p:cNvPr>
          <p:cNvCxnSpPr>
            <a:cxnSpLocks/>
          </p:cNvCxnSpPr>
          <p:nvPr/>
        </p:nvCxnSpPr>
        <p:spPr>
          <a:xfrm>
            <a:off x="6093778" y="3998154"/>
            <a:ext cx="28788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533259E-E9BC-2DD7-C6D8-6D3B00597748}"/>
              </a:ext>
            </a:extLst>
          </p:cNvPr>
          <p:cNvSpPr/>
          <p:nvPr/>
        </p:nvSpPr>
        <p:spPr>
          <a:xfrm>
            <a:off x="10546721" y="3404717"/>
            <a:ext cx="1070441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EEPROM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C07079D-D513-32B8-DB9E-4B81BD53E88C}"/>
              </a:ext>
            </a:extLst>
          </p:cNvPr>
          <p:cNvSpPr txBox="1"/>
          <p:nvPr/>
        </p:nvSpPr>
        <p:spPr>
          <a:xfrm>
            <a:off x="10524731" y="3038065"/>
            <a:ext cx="14072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LED5 : reserved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BBB7CEA-E137-6AE1-8586-280D1E24D8C2}"/>
              </a:ext>
            </a:extLst>
          </p:cNvPr>
          <p:cNvSpPr txBox="1"/>
          <p:nvPr/>
        </p:nvSpPr>
        <p:spPr>
          <a:xfrm>
            <a:off x="10522579" y="3179768"/>
            <a:ext cx="1487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Test Pin (TP8~TP11)</a:t>
            </a: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C232B3DB-825B-A9E4-9446-68CAADD87777}"/>
              </a:ext>
            </a:extLst>
          </p:cNvPr>
          <p:cNvCxnSpPr>
            <a:cxnSpLocks/>
          </p:cNvCxnSpPr>
          <p:nvPr/>
        </p:nvCxnSpPr>
        <p:spPr>
          <a:xfrm>
            <a:off x="2369910" y="1738018"/>
            <a:ext cx="338328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직사각형 460">
            <a:extLst>
              <a:ext uri="{FF2B5EF4-FFF2-40B4-BE49-F238E27FC236}">
                <a16:creationId xmlns:a16="http://schemas.microsoft.com/office/drawing/2014/main" id="{6E04E77B-2C53-94E7-49BC-F780439E5291}"/>
              </a:ext>
            </a:extLst>
          </p:cNvPr>
          <p:cNvSpPr/>
          <p:nvPr/>
        </p:nvSpPr>
        <p:spPr>
          <a:xfrm>
            <a:off x="5346646" y="1490052"/>
            <a:ext cx="1800000" cy="66114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      </a:t>
            </a:r>
            <a:r>
              <a:rPr lang="en-US" altLang="ko-KR" sz="1000" b="1" u="sng" dirty="0">
                <a:solidFill>
                  <a:schemeClr val="tx1"/>
                </a:solidFill>
                <a:latin typeface="+mn-ea"/>
              </a:rPr>
              <a:t>Protocol comm.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- TCP service (port 23)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- CMD Rx service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- EVT Tx service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2" name="직사각형 471">
            <a:extLst>
              <a:ext uri="{FF2B5EF4-FFF2-40B4-BE49-F238E27FC236}">
                <a16:creationId xmlns:a16="http://schemas.microsoft.com/office/drawing/2014/main" id="{A1BE52F2-5334-5FD7-9AE4-AA28FE9F7C96}"/>
              </a:ext>
            </a:extLst>
          </p:cNvPr>
          <p:cNvSpPr/>
          <p:nvPr/>
        </p:nvSpPr>
        <p:spPr>
          <a:xfrm>
            <a:off x="7338812" y="1488931"/>
            <a:ext cx="1800000" cy="6611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en-US" altLang="ko-KR" sz="1000" b="1" u="sng" dirty="0">
                <a:solidFill>
                  <a:schemeClr val="tx1"/>
                </a:solidFill>
                <a:latin typeface="+mn-ea"/>
              </a:rPr>
              <a:t>Maintenance comm.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- TCP(7023) &amp; UART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- monitoring service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- user CMD service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4" name="직사각형 473">
            <a:extLst>
              <a:ext uri="{FF2B5EF4-FFF2-40B4-BE49-F238E27FC236}">
                <a16:creationId xmlns:a16="http://schemas.microsoft.com/office/drawing/2014/main" id="{62A89D73-6626-DD7A-56CA-3F0F2812A7E0}"/>
              </a:ext>
            </a:extLst>
          </p:cNvPr>
          <p:cNvSpPr/>
          <p:nvPr/>
        </p:nvSpPr>
        <p:spPr>
          <a:xfrm>
            <a:off x="3841920" y="1395639"/>
            <a:ext cx="1110990" cy="321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0" rtlCol="0" anchor="ctr"/>
          <a:lstStyle/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LAN link service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(10/100)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9" name="직사각형 478">
            <a:extLst>
              <a:ext uri="{FF2B5EF4-FFF2-40B4-BE49-F238E27FC236}">
                <a16:creationId xmlns:a16="http://schemas.microsoft.com/office/drawing/2014/main" id="{94E4E08D-981D-6015-5D7B-6A266F7BB24D}"/>
              </a:ext>
            </a:extLst>
          </p:cNvPr>
          <p:cNvSpPr/>
          <p:nvPr/>
        </p:nvSpPr>
        <p:spPr>
          <a:xfrm>
            <a:off x="7334075" y="2216948"/>
            <a:ext cx="1800000" cy="6586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  </a:t>
            </a:r>
            <a:r>
              <a:rPr lang="en-US" altLang="ko-KR" sz="1000" b="1" u="sng" dirty="0">
                <a:solidFill>
                  <a:schemeClr val="tx1"/>
                </a:solidFill>
                <a:latin typeface="+mn-ea"/>
              </a:rPr>
              <a:t>Miscellaneous feature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- Watchdog service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- fake PHD data gen.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- LED control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80" name="직사각형 479">
            <a:extLst>
              <a:ext uri="{FF2B5EF4-FFF2-40B4-BE49-F238E27FC236}">
                <a16:creationId xmlns:a16="http://schemas.microsoft.com/office/drawing/2014/main" id="{247F4982-36B3-2539-01D8-BA39B38BCA24}"/>
              </a:ext>
            </a:extLst>
          </p:cNvPr>
          <p:cNvSpPr/>
          <p:nvPr/>
        </p:nvSpPr>
        <p:spPr>
          <a:xfrm>
            <a:off x="5352616" y="2213736"/>
            <a:ext cx="1800000" cy="662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     </a:t>
            </a:r>
            <a:r>
              <a:rPr lang="en-US" altLang="ko-KR" sz="1000" b="1" u="sng" dirty="0">
                <a:solidFill>
                  <a:schemeClr val="tx1"/>
                </a:solidFill>
                <a:latin typeface="+mn-ea"/>
              </a:rPr>
              <a:t>Laser control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- Laser on/off control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- Laser temp. control</a:t>
            </a:r>
          </a:p>
          <a:p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85" name="직선 화살표 연결선 484">
            <a:extLst>
              <a:ext uri="{FF2B5EF4-FFF2-40B4-BE49-F238E27FC236}">
                <a16:creationId xmlns:a16="http://schemas.microsoft.com/office/drawing/2014/main" id="{46EB5333-7B55-F1D3-F53F-6B75AD3319A9}"/>
              </a:ext>
            </a:extLst>
          </p:cNvPr>
          <p:cNvCxnSpPr>
            <a:cxnSpLocks/>
          </p:cNvCxnSpPr>
          <p:nvPr/>
        </p:nvCxnSpPr>
        <p:spPr>
          <a:xfrm>
            <a:off x="6132665" y="1332929"/>
            <a:ext cx="0" cy="1355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직선 화살표 연결선 485">
            <a:extLst>
              <a:ext uri="{FF2B5EF4-FFF2-40B4-BE49-F238E27FC236}">
                <a16:creationId xmlns:a16="http://schemas.microsoft.com/office/drawing/2014/main" id="{459D8344-D346-C54E-4FC5-2834B3E7D137}"/>
              </a:ext>
            </a:extLst>
          </p:cNvPr>
          <p:cNvCxnSpPr>
            <a:cxnSpLocks/>
          </p:cNvCxnSpPr>
          <p:nvPr/>
        </p:nvCxnSpPr>
        <p:spPr>
          <a:xfrm>
            <a:off x="7934325" y="1332929"/>
            <a:ext cx="0" cy="1339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2" name="직사각형 491">
            <a:extLst>
              <a:ext uri="{FF2B5EF4-FFF2-40B4-BE49-F238E27FC236}">
                <a16:creationId xmlns:a16="http://schemas.microsoft.com/office/drawing/2014/main" id="{5F2E679F-42A1-062F-4B3D-9DA5A1DFC634}"/>
              </a:ext>
            </a:extLst>
          </p:cNvPr>
          <p:cNvSpPr/>
          <p:nvPr/>
        </p:nvSpPr>
        <p:spPr>
          <a:xfrm>
            <a:off x="5064213" y="3784269"/>
            <a:ext cx="1029519" cy="350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fake ADC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data gen. block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93" name="직사각형 492">
            <a:extLst>
              <a:ext uri="{FF2B5EF4-FFF2-40B4-BE49-F238E27FC236}">
                <a16:creationId xmlns:a16="http://schemas.microsoft.com/office/drawing/2014/main" id="{CE0AF2DA-F85F-FEB7-5D4A-C869F9D39B0F}"/>
              </a:ext>
            </a:extLst>
          </p:cNvPr>
          <p:cNvSpPr/>
          <p:nvPr/>
        </p:nvSpPr>
        <p:spPr>
          <a:xfrm>
            <a:off x="5059805" y="3197453"/>
            <a:ext cx="1029518" cy="3889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Control REG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block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00" name="직선 화살표 연결선 499">
            <a:extLst>
              <a:ext uri="{FF2B5EF4-FFF2-40B4-BE49-F238E27FC236}">
                <a16:creationId xmlns:a16="http://schemas.microsoft.com/office/drawing/2014/main" id="{C7ADC086-BED3-B3B4-D463-08387158B8E9}"/>
              </a:ext>
            </a:extLst>
          </p:cNvPr>
          <p:cNvCxnSpPr>
            <a:cxnSpLocks/>
          </p:cNvCxnSpPr>
          <p:nvPr/>
        </p:nvCxnSpPr>
        <p:spPr>
          <a:xfrm>
            <a:off x="9858663" y="3162699"/>
            <a:ext cx="2732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직선 화살표 연결선 501">
            <a:extLst>
              <a:ext uri="{FF2B5EF4-FFF2-40B4-BE49-F238E27FC236}">
                <a16:creationId xmlns:a16="http://schemas.microsoft.com/office/drawing/2014/main" id="{3854FD5A-DCA2-5E0E-EA6E-05E6840AF3E6}"/>
              </a:ext>
            </a:extLst>
          </p:cNvPr>
          <p:cNvCxnSpPr>
            <a:cxnSpLocks/>
          </p:cNvCxnSpPr>
          <p:nvPr/>
        </p:nvCxnSpPr>
        <p:spPr>
          <a:xfrm>
            <a:off x="9858663" y="3317373"/>
            <a:ext cx="68025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직선 화살표 연결선 502">
            <a:extLst>
              <a:ext uri="{FF2B5EF4-FFF2-40B4-BE49-F238E27FC236}">
                <a16:creationId xmlns:a16="http://schemas.microsoft.com/office/drawing/2014/main" id="{3AE0FE84-5EC6-3E43-02CE-874EB5FF2D64}"/>
              </a:ext>
            </a:extLst>
          </p:cNvPr>
          <p:cNvCxnSpPr>
            <a:cxnSpLocks/>
          </p:cNvCxnSpPr>
          <p:nvPr/>
        </p:nvCxnSpPr>
        <p:spPr>
          <a:xfrm>
            <a:off x="9141657" y="2621313"/>
            <a:ext cx="9902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직선 화살표 연결선 503">
            <a:extLst>
              <a:ext uri="{FF2B5EF4-FFF2-40B4-BE49-F238E27FC236}">
                <a16:creationId xmlns:a16="http://schemas.microsoft.com/office/drawing/2014/main" id="{BBBF2D19-3B51-61CE-009F-BC65E5494EB4}"/>
              </a:ext>
            </a:extLst>
          </p:cNvPr>
          <p:cNvCxnSpPr>
            <a:cxnSpLocks/>
          </p:cNvCxnSpPr>
          <p:nvPr/>
        </p:nvCxnSpPr>
        <p:spPr>
          <a:xfrm>
            <a:off x="4349189" y="3144545"/>
            <a:ext cx="0" cy="471484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6" name="직사각형 505">
            <a:extLst>
              <a:ext uri="{FF2B5EF4-FFF2-40B4-BE49-F238E27FC236}">
                <a16:creationId xmlns:a16="http://schemas.microsoft.com/office/drawing/2014/main" id="{1440ECCE-8858-2FB1-56CA-6B80EB2A0147}"/>
              </a:ext>
            </a:extLst>
          </p:cNvPr>
          <p:cNvSpPr/>
          <p:nvPr/>
        </p:nvSpPr>
        <p:spPr>
          <a:xfrm>
            <a:off x="8716968" y="3417938"/>
            <a:ext cx="1146675" cy="28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EEPROM control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block (SPI)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08" name="직선 화살표 연결선 507">
            <a:extLst>
              <a:ext uri="{FF2B5EF4-FFF2-40B4-BE49-F238E27FC236}">
                <a16:creationId xmlns:a16="http://schemas.microsoft.com/office/drawing/2014/main" id="{435B3944-B3B8-4C0D-4A80-3B890729D0A8}"/>
              </a:ext>
            </a:extLst>
          </p:cNvPr>
          <p:cNvCxnSpPr>
            <a:cxnSpLocks/>
          </p:cNvCxnSpPr>
          <p:nvPr/>
        </p:nvCxnSpPr>
        <p:spPr>
          <a:xfrm flipH="1">
            <a:off x="9858663" y="3518727"/>
            <a:ext cx="68191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1" name="순서도: 수동 연산 510">
            <a:extLst>
              <a:ext uri="{FF2B5EF4-FFF2-40B4-BE49-F238E27FC236}">
                <a16:creationId xmlns:a16="http://schemas.microsoft.com/office/drawing/2014/main" id="{94E35655-C16A-EC93-C94B-8DB1EDFFC15D}"/>
              </a:ext>
            </a:extLst>
          </p:cNvPr>
          <p:cNvSpPr/>
          <p:nvPr/>
        </p:nvSpPr>
        <p:spPr>
          <a:xfrm rot="16200000">
            <a:off x="6177870" y="4049189"/>
            <a:ext cx="562487" cy="145920"/>
          </a:xfrm>
          <a:prstGeom prst="flowChartManualOperatio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0A67296C-6CFF-55E8-F713-E4F12CA2E6EC}"/>
              </a:ext>
            </a:extLst>
          </p:cNvPr>
          <p:cNvCxnSpPr>
            <a:cxnSpLocks/>
          </p:cNvCxnSpPr>
          <p:nvPr/>
        </p:nvCxnSpPr>
        <p:spPr>
          <a:xfrm>
            <a:off x="6235742" y="4272082"/>
            <a:ext cx="145919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DA3BA3F3-A81D-444D-AD21-7CCE7D6CC7F5}"/>
              </a:ext>
            </a:extLst>
          </p:cNvPr>
          <p:cNvCxnSpPr>
            <a:cxnSpLocks/>
          </p:cNvCxnSpPr>
          <p:nvPr/>
        </p:nvCxnSpPr>
        <p:spPr>
          <a:xfrm flipV="1">
            <a:off x="6235742" y="4272082"/>
            <a:ext cx="0" cy="100949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76B72FA7-EEC8-E412-3F00-95822B708F67}"/>
              </a:ext>
            </a:extLst>
          </p:cNvPr>
          <p:cNvSpPr/>
          <p:nvPr/>
        </p:nvSpPr>
        <p:spPr>
          <a:xfrm>
            <a:off x="6722932" y="3828805"/>
            <a:ext cx="1503513" cy="5687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DMA + control block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(raw ADC write)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91245E7F-5F3E-D3D9-0C19-A3A57EA9DCCD}"/>
              </a:ext>
            </a:extLst>
          </p:cNvPr>
          <p:cNvCxnSpPr>
            <a:cxnSpLocks/>
          </p:cNvCxnSpPr>
          <p:nvPr/>
        </p:nvCxnSpPr>
        <p:spPr>
          <a:xfrm>
            <a:off x="6532074" y="4130772"/>
            <a:ext cx="17714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CADB5C79-772C-BD21-F808-9893B9B8307D}"/>
              </a:ext>
            </a:extLst>
          </p:cNvPr>
          <p:cNvSpPr/>
          <p:nvPr/>
        </p:nvSpPr>
        <p:spPr>
          <a:xfrm>
            <a:off x="7304456" y="5729436"/>
            <a:ext cx="1634905" cy="4031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vtg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to </a:t>
            </a:r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ch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mapping table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(log scale, 512ch)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0" name="직사각형 379">
            <a:extLst>
              <a:ext uri="{FF2B5EF4-FFF2-40B4-BE49-F238E27FC236}">
                <a16:creationId xmlns:a16="http://schemas.microsoft.com/office/drawing/2014/main" id="{2FA490BB-4B81-490F-5165-589D7A22151D}"/>
              </a:ext>
            </a:extLst>
          </p:cNvPr>
          <p:cNvSpPr/>
          <p:nvPr/>
        </p:nvSpPr>
        <p:spPr>
          <a:xfrm>
            <a:off x="5054745" y="5915468"/>
            <a:ext cx="1438446" cy="5054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XADC (12-bit)</a:t>
            </a:r>
          </a:p>
          <a:p>
            <a:pPr algn="ctr"/>
            <a:endParaRPr lang="en-US" altLang="ko-KR" sz="10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Vp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Vn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       Vad0~3</a:t>
            </a: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639E3EAC-036E-6B5C-F1BA-F55BC8AA287D}"/>
              </a:ext>
            </a:extLst>
          </p:cNvPr>
          <p:cNvSpPr/>
          <p:nvPr/>
        </p:nvSpPr>
        <p:spPr>
          <a:xfrm>
            <a:off x="9069822" y="4519576"/>
            <a:ext cx="796473" cy="95158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DPRAM +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particle counting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block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(512 </a:t>
            </a:r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ch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97E3E6F5-C855-1FF9-E23A-7241F276D2E5}"/>
              </a:ext>
            </a:extLst>
          </p:cNvPr>
          <p:cNvSpPr/>
          <p:nvPr/>
        </p:nvSpPr>
        <p:spPr>
          <a:xfrm>
            <a:off x="7666182" y="5039391"/>
            <a:ext cx="781872" cy="4608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vtg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to </a:t>
            </a:r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ch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determine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block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139A89CE-3238-6733-7C7A-E4DF7E59746F}"/>
              </a:ext>
            </a:extLst>
          </p:cNvPr>
          <p:cNvSpPr/>
          <p:nvPr/>
        </p:nvSpPr>
        <p:spPr>
          <a:xfrm>
            <a:off x="5514285" y="5384392"/>
            <a:ext cx="761375" cy="3628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TCF calc.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block</a:t>
            </a:r>
          </a:p>
        </p:txBody>
      </p: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8FCD4AF0-38C1-1B00-76B6-95F70D7B99A9}"/>
              </a:ext>
            </a:extLst>
          </p:cNvPr>
          <p:cNvCxnSpPr>
            <a:cxnSpLocks/>
          </p:cNvCxnSpPr>
          <p:nvPr/>
        </p:nvCxnSpPr>
        <p:spPr>
          <a:xfrm flipV="1">
            <a:off x="5835273" y="5757556"/>
            <a:ext cx="0" cy="1655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직선 화살표 연결선 206">
            <a:extLst>
              <a:ext uri="{FF2B5EF4-FFF2-40B4-BE49-F238E27FC236}">
                <a16:creationId xmlns:a16="http://schemas.microsoft.com/office/drawing/2014/main" id="{D12F97C4-FF94-8EEA-3470-22976D39BDF4}"/>
              </a:ext>
            </a:extLst>
          </p:cNvPr>
          <p:cNvCxnSpPr>
            <a:cxnSpLocks/>
          </p:cNvCxnSpPr>
          <p:nvPr/>
        </p:nvCxnSpPr>
        <p:spPr>
          <a:xfrm flipV="1">
            <a:off x="5835273" y="5169196"/>
            <a:ext cx="0" cy="2262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D23BE3D5-E901-40D7-7B13-017463BE7236}"/>
              </a:ext>
            </a:extLst>
          </p:cNvPr>
          <p:cNvSpPr txBox="1"/>
          <p:nvPr/>
        </p:nvSpPr>
        <p:spPr>
          <a:xfrm>
            <a:off x="1569632" y="4083720"/>
            <a:ext cx="43121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 err="1">
                <a:latin typeface="+mn-ea"/>
              </a:rPr>
              <a:t>ch</a:t>
            </a:r>
            <a:r>
              <a:rPr lang="en-US" altLang="ko-KR" sz="1000" b="1" dirty="0">
                <a:latin typeface="+mn-ea"/>
              </a:rPr>
              <a:t> A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8BF577A8-1D8F-6441-D9DB-81236C6BF638}"/>
              </a:ext>
            </a:extLst>
          </p:cNvPr>
          <p:cNvSpPr txBox="1"/>
          <p:nvPr/>
        </p:nvSpPr>
        <p:spPr>
          <a:xfrm>
            <a:off x="1539104" y="5081229"/>
            <a:ext cx="43121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 err="1">
                <a:latin typeface="+mn-ea"/>
              </a:rPr>
              <a:t>ch</a:t>
            </a:r>
            <a:r>
              <a:rPr lang="en-US" altLang="ko-KR" sz="1000" b="1" dirty="0">
                <a:latin typeface="+mn-ea"/>
              </a:rPr>
              <a:t> B</a:t>
            </a:r>
          </a:p>
        </p:txBody>
      </p:sp>
      <p:cxnSp>
        <p:nvCxnSpPr>
          <p:cNvPr id="235" name="직선 화살표 연결선 234">
            <a:extLst>
              <a:ext uri="{FF2B5EF4-FFF2-40B4-BE49-F238E27FC236}">
                <a16:creationId xmlns:a16="http://schemas.microsoft.com/office/drawing/2014/main" id="{28BF1CF9-D774-0B9D-6E8F-828A76C2E3D9}"/>
              </a:ext>
            </a:extLst>
          </p:cNvPr>
          <p:cNvCxnSpPr>
            <a:cxnSpLocks/>
          </p:cNvCxnSpPr>
          <p:nvPr/>
        </p:nvCxnSpPr>
        <p:spPr>
          <a:xfrm>
            <a:off x="4438576" y="4859244"/>
            <a:ext cx="613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E77F626E-885F-C45E-6E93-DF4CEB8610D3}"/>
              </a:ext>
            </a:extLst>
          </p:cNvPr>
          <p:cNvSpPr/>
          <p:nvPr/>
        </p:nvSpPr>
        <p:spPr>
          <a:xfrm>
            <a:off x="4607267" y="5384069"/>
            <a:ext cx="761375" cy="361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GCF calc.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block</a:t>
            </a:r>
          </a:p>
        </p:txBody>
      </p:sp>
      <p:cxnSp>
        <p:nvCxnSpPr>
          <p:cNvPr id="237" name="직선 화살표 연결선 236">
            <a:extLst>
              <a:ext uri="{FF2B5EF4-FFF2-40B4-BE49-F238E27FC236}">
                <a16:creationId xmlns:a16="http://schemas.microsoft.com/office/drawing/2014/main" id="{0DC89428-0718-6ED7-DF7E-2341BAA8EDDC}"/>
              </a:ext>
            </a:extLst>
          </p:cNvPr>
          <p:cNvCxnSpPr>
            <a:cxnSpLocks/>
          </p:cNvCxnSpPr>
          <p:nvPr/>
        </p:nvCxnSpPr>
        <p:spPr>
          <a:xfrm>
            <a:off x="4741458" y="5014692"/>
            <a:ext cx="0" cy="3693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직선 화살표 연결선 238">
            <a:extLst>
              <a:ext uri="{FF2B5EF4-FFF2-40B4-BE49-F238E27FC236}">
                <a16:creationId xmlns:a16="http://schemas.microsoft.com/office/drawing/2014/main" id="{F6EB10DD-79B3-EF79-F17F-1F38164C6CBA}"/>
              </a:ext>
            </a:extLst>
          </p:cNvPr>
          <p:cNvCxnSpPr>
            <a:cxnSpLocks/>
          </p:cNvCxnSpPr>
          <p:nvPr/>
        </p:nvCxnSpPr>
        <p:spPr>
          <a:xfrm>
            <a:off x="4848138" y="4859244"/>
            <a:ext cx="0" cy="5251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타원 240">
            <a:extLst>
              <a:ext uri="{FF2B5EF4-FFF2-40B4-BE49-F238E27FC236}">
                <a16:creationId xmlns:a16="http://schemas.microsoft.com/office/drawing/2014/main" id="{3BC058F6-6AE8-2174-A59A-33C9628BCD27}"/>
              </a:ext>
            </a:extLst>
          </p:cNvPr>
          <p:cNvSpPr/>
          <p:nvPr/>
        </p:nvSpPr>
        <p:spPr>
          <a:xfrm>
            <a:off x="4721202" y="4993189"/>
            <a:ext cx="55727" cy="5572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3" name="타원 242">
            <a:extLst>
              <a:ext uri="{FF2B5EF4-FFF2-40B4-BE49-F238E27FC236}">
                <a16:creationId xmlns:a16="http://schemas.microsoft.com/office/drawing/2014/main" id="{331E9FC9-1AEB-4236-72AD-D362F964FCB9}"/>
              </a:ext>
            </a:extLst>
          </p:cNvPr>
          <p:cNvSpPr/>
          <p:nvPr/>
        </p:nvSpPr>
        <p:spPr>
          <a:xfrm>
            <a:off x="4818051" y="4829303"/>
            <a:ext cx="55727" cy="5572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타원 244">
            <a:extLst>
              <a:ext uri="{FF2B5EF4-FFF2-40B4-BE49-F238E27FC236}">
                <a16:creationId xmlns:a16="http://schemas.microsoft.com/office/drawing/2014/main" id="{32D0E178-5FC6-B2AC-6041-A098D0BF59C8}"/>
              </a:ext>
            </a:extLst>
          </p:cNvPr>
          <p:cNvSpPr/>
          <p:nvPr/>
        </p:nvSpPr>
        <p:spPr>
          <a:xfrm>
            <a:off x="6207879" y="4829303"/>
            <a:ext cx="55727" cy="5572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0" name="직선 화살표 연결선 249">
            <a:extLst>
              <a:ext uri="{FF2B5EF4-FFF2-40B4-BE49-F238E27FC236}">
                <a16:creationId xmlns:a16="http://schemas.microsoft.com/office/drawing/2014/main" id="{6B53CE62-CFCE-7F9D-C40A-85C0B7D05604}"/>
              </a:ext>
            </a:extLst>
          </p:cNvPr>
          <p:cNvCxnSpPr>
            <a:cxnSpLocks/>
          </p:cNvCxnSpPr>
          <p:nvPr/>
        </p:nvCxnSpPr>
        <p:spPr>
          <a:xfrm flipV="1">
            <a:off x="5243079" y="5169196"/>
            <a:ext cx="0" cy="214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화살표 연결선 255">
            <a:extLst>
              <a:ext uri="{FF2B5EF4-FFF2-40B4-BE49-F238E27FC236}">
                <a16:creationId xmlns:a16="http://schemas.microsoft.com/office/drawing/2014/main" id="{A1CB6316-1D31-3353-C15B-06617C217F21}"/>
              </a:ext>
            </a:extLst>
          </p:cNvPr>
          <p:cNvCxnSpPr>
            <a:cxnSpLocks/>
          </p:cNvCxnSpPr>
          <p:nvPr/>
        </p:nvCxnSpPr>
        <p:spPr>
          <a:xfrm>
            <a:off x="7430331" y="5289267"/>
            <a:ext cx="2173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화살표 연결선 258">
            <a:extLst>
              <a:ext uri="{FF2B5EF4-FFF2-40B4-BE49-F238E27FC236}">
                <a16:creationId xmlns:a16="http://schemas.microsoft.com/office/drawing/2014/main" id="{EA3D48AA-CE45-8315-7DAD-7B06FF7B4EDA}"/>
              </a:ext>
            </a:extLst>
          </p:cNvPr>
          <p:cNvCxnSpPr>
            <a:cxnSpLocks/>
          </p:cNvCxnSpPr>
          <p:nvPr/>
        </p:nvCxnSpPr>
        <p:spPr>
          <a:xfrm flipV="1">
            <a:off x="8057118" y="5503976"/>
            <a:ext cx="0" cy="2262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화살표 연결선 270">
            <a:extLst>
              <a:ext uri="{FF2B5EF4-FFF2-40B4-BE49-F238E27FC236}">
                <a16:creationId xmlns:a16="http://schemas.microsoft.com/office/drawing/2014/main" id="{0176D748-A68D-6D0E-C321-F98247FDC26F}"/>
              </a:ext>
            </a:extLst>
          </p:cNvPr>
          <p:cNvCxnSpPr>
            <a:cxnSpLocks/>
          </p:cNvCxnSpPr>
          <p:nvPr/>
        </p:nvCxnSpPr>
        <p:spPr>
          <a:xfrm>
            <a:off x="8437066" y="4876793"/>
            <a:ext cx="28788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순서도: 수동 연산 271">
            <a:extLst>
              <a:ext uri="{FF2B5EF4-FFF2-40B4-BE49-F238E27FC236}">
                <a16:creationId xmlns:a16="http://schemas.microsoft.com/office/drawing/2014/main" id="{829720B1-0CE1-C7F2-B79D-3C610A1C582D}"/>
              </a:ext>
            </a:extLst>
          </p:cNvPr>
          <p:cNvSpPr/>
          <p:nvPr/>
        </p:nvSpPr>
        <p:spPr>
          <a:xfrm rot="16200000">
            <a:off x="8521158" y="4927828"/>
            <a:ext cx="562487" cy="145920"/>
          </a:xfrm>
          <a:prstGeom prst="flowChartManualOpera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3" name="직선 화살표 연결선 272">
            <a:extLst>
              <a:ext uri="{FF2B5EF4-FFF2-40B4-BE49-F238E27FC236}">
                <a16:creationId xmlns:a16="http://schemas.microsoft.com/office/drawing/2014/main" id="{E786C08C-CF16-E22E-A519-B99345ABB9AA}"/>
              </a:ext>
            </a:extLst>
          </p:cNvPr>
          <p:cNvCxnSpPr>
            <a:cxnSpLocks/>
          </p:cNvCxnSpPr>
          <p:nvPr/>
        </p:nvCxnSpPr>
        <p:spPr>
          <a:xfrm>
            <a:off x="8448054" y="5150721"/>
            <a:ext cx="27689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화살표 연결선 273">
            <a:extLst>
              <a:ext uri="{FF2B5EF4-FFF2-40B4-BE49-F238E27FC236}">
                <a16:creationId xmlns:a16="http://schemas.microsoft.com/office/drawing/2014/main" id="{B4C3EE4B-BCDD-9608-5B94-AF607B32B61D}"/>
              </a:ext>
            </a:extLst>
          </p:cNvPr>
          <p:cNvCxnSpPr>
            <a:cxnSpLocks/>
          </p:cNvCxnSpPr>
          <p:nvPr/>
        </p:nvCxnSpPr>
        <p:spPr>
          <a:xfrm>
            <a:off x="8888062" y="4990361"/>
            <a:ext cx="17714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직사각형 274">
            <a:extLst>
              <a:ext uri="{FF2B5EF4-FFF2-40B4-BE49-F238E27FC236}">
                <a16:creationId xmlns:a16="http://schemas.microsoft.com/office/drawing/2014/main" id="{5A148CA0-DFB3-4641-743C-914533B3E47B}"/>
              </a:ext>
            </a:extLst>
          </p:cNvPr>
          <p:cNvSpPr/>
          <p:nvPr/>
        </p:nvSpPr>
        <p:spPr>
          <a:xfrm>
            <a:off x="7657883" y="4529201"/>
            <a:ext cx="781872" cy="4623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fake PHD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data gen.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block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81" name="직선 화살표 연결선 280">
            <a:extLst>
              <a:ext uri="{FF2B5EF4-FFF2-40B4-BE49-F238E27FC236}">
                <a16:creationId xmlns:a16="http://schemas.microsoft.com/office/drawing/2014/main" id="{E867C715-D2D6-DF69-0AE5-500AE4A26789}"/>
              </a:ext>
            </a:extLst>
          </p:cNvPr>
          <p:cNvCxnSpPr>
            <a:cxnSpLocks/>
          </p:cNvCxnSpPr>
          <p:nvPr/>
        </p:nvCxnSpPr>
        <p:spPr>
          <a:xfrm>
            <a:off x="6100655" y="4858475"/>
            <a:ext cx="135087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직사각형 291">
            <a:extLst>
              <a:ext uri="{FF2B5EF4-FFF2-40B4-BE49-F238E27FC236}">
                <a16:creationId xmlns:a16="http://schemas.microsoft.com/office/drawing/2014/main" id="{283C5224-5530-F5ED-0520-B4F93BD239EE}"/>
              </a:ext>
            </a:extLst>
          </p:cNvPr>
          <p:cNvSpPr/>
          <p:nvPr/>
        </p:nvSpPr>
        <p:spPr>
          <a:xfrm>
            <a:off x="10187835" y="4851350"/>
            <a:ext cx="1800000" cy="1492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HW component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028DA530-AD87-B92E-B8B5-72D5CD376F5B}"/>
              </a:ext>
            </a:extLst>
          </p:cNvPr>
          <p:cNvSpPr txBox="1"/>
          <p:nvPr/>
        </p:nvSpPr>
        <p:spPr>
          <a:xfrm>
            <a:off x="10294650" y="4612371"/>
            <a:ext cx="1487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u="sng" dirty="0">
                <a:latin typeface="+mn-ea"/>
              </a:rPr>
              <a:t>color notification</a:t>
            </a:r>
          </a:p>
        </p:txBody>
      </p:sp>
      <p:sp>
        <p:nvSpPr>
          <p:cNvPr id="294" name="직사각형 293">
            <a:extLst>
              <a:ext uri="{FF2B5EF4-FFF2-40B4-BE49-F238E27FC236}">
                <a16:creationId xmlns:a16="http://schemas.microsoft.com/office/drawing/2014/main" id="{7DFDBF73-08AB-04C2-5BD3-D71AF06AA1BD}"/>
              </a:ext>
            </a:extLst>
          </p:cNvPr>
          <p:cNvSpPr/>
          <p:nvPr/>
        </p:nvSpPr>
        <p:spPr>
          <a:xfrm>
            <a:off x="10187835" y="5045689"/>
            <a:ext cx="1800000" cy="14923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FPGA F/W design finished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5" name="직사각형 294">
            <a:extLst>
              <a:ext uri="{FF2B5EF4-FFF2-40B4-BE49-F238E27FC236}">
                <a16:creationId xmlns:a16="http://schemas.microsoft.com/office/drawing/2014/main" id="{B6C700EA-840E-5A0A-0355-81D20A4E43CD}"/>
              </a:ext>
            </a:extLst>
          </p:cNvPr>
          <p:cNvSpPr/>
          <p:nvPr/>
        </p:nvSpPr>
        <p:spPr>
          <a:xfrm>
            <a:off x="10187835" y="5236189"/>
            <a:ext cx="1800000" cy="1492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FPGA circuit design finished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6" name="직사각형 295">
            <a:extLst>
              <a:ext uri="{FF2B5EF4-FFF2-40B4-BE49-F238E27FC236}">
                <a16:creationId xmlns:a16="http://schemas.microsoft.com/office/drawing/2014/main" id="{B064DDCA-BBBC-7A88-B0C6-0F44A4EC1CA7}"/>
              </a:ext>
            </a:extLst>
          </p:cNvPr>
          <p:cNvSpPr/>
          <p:nvPr/>
        </p:nvSpPr>
        <p:spPr>
          <a:xfrm>
            <a:off x="10187835" y="5426960"/>
            <a:ext cx="1800000" cy="14923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FPGA circuit to be designed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0E94AB-CB54-23E7-4BF3-B9E65984A7E8}"/>
              </a:ext>
            </a:extLst>
          </p:cNvPr>
          <p:cNvSpPr/>
          <p:nvPr/>
        </p:nvSpPr>
        <p:spPr>
          <a:xfrm>
            <a:off x="8716968" y="3741823"/>
            <a:ext cx="1146675" cy="28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temp. PID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control block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D3CF68A-E6F1-477C-81E1-D71307C49CED}"/>
              </a:ext>
            </a:extLst>
          </p:cNvPr>
          <p:cNvSpPr/>
          <p:nvPr/>
        </p:nvSpPr>
        <p:spPr>
          <a:xfrm>
            <a:off x="10546721" y="3742360"/>
            <a:ext cx="1070441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DAC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7417542-1E05-626E-3B6B-DB5948005255}"/>
              </a:ext>
            </a:extLst>
          </p:cNvPr>
          <p:cNvCxnSpPr>
            <a:cxnSpLocks/>
          </p:cNvCxnSpPr>
          <p:nvPr/>
        </p:nvCxnSpPr>
        <p:spPr>
          <a:xfrm flipH="1">
            <a:off x="9858663" y="3862720"/>
            <a:ext cx="68191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B3174F4-ADFD-FFDC-54FF-BE263B99B2C1}"/>
              </a:ext>
            </a:extLst>
          </p:cNvPr>
          <p:cNvSpPr/>
          <p:nvPr/>
        </p:nvSpPr>
        <p:spPr>
          <a:xfrm>
            <a:off x="5063723" y="4193077"/>
            <a:ext cx="1029519" cy="350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ADC data 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single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capture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51312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자유형: 도형 455">
            <a:extLst>
              <a:ext uri="{FF2B5EF4-FFF2-40B4-BE49-F238E27FC236}">
                <a16:creationId xmlns:a16="http://schemas.microsoft.com/office/drawing/2014/main" id="{7AE1955F-E104-0579-8F85-0EBB19594427}"/>
              </a:ext>
            </a:extLst>
          </p:cNvPr>
          <p:cNvSpPr/>
          <p:nvPr/>
        </p:nvSpPr>
        <p:spPr>
          <a:xfrm>
            <a:off x="5843874" y="914400"/>
            <a:ext cx="4076700" cy="3067050"/>
          </a:xfrm>
          <a:custGeom>
            <a:avLst/>
            <a:gdLst>
              <a:gd name="connsiteX0" fmla="*/ 19050 w 4076700"/>
              <a:gd name="connsiteY0" fmla="*/ 38100 h 3067050"/>
              <a:gd name="connsiteX1" fmla="*/ 19050 w 4076700"/>
              <a:gd name="connsiteY1" fmla="*/ 2162175 h 3067050"/>
              <a:gd name="connsiteX2" fmla="*/ 781050 w 4076700"/>
              <a:gd name="connsiteY2" fmla="*/ 2162175 h 3067050"/>
              <a:gd name="connsiteX3" fmla="*/ 781050 w 4076700"/>
              <a:gd name="connsiteY3" fmla="*/ 3067050 h 3067050"/>
              <a:gd name="connsiteX4" fmla="*/ 4076700 w 4076700"/>
              <a:gd name="connsiteY4" fmla="*/ 3067050 h 3067050"/>
              <a:gd name="connsiteX5" fmla="*/ 4076700 w 4076700"/>
              <a:gd name="connsiteY5" fmla="*/ 0 h 3067050"/>
              <a:gd name="connsiteX6" fmla="*/ 0 w 4076700"/>
              <a:gd name="connsiteY6" fmla="*/ 0 h 3067050"/>
              <a:gd name="connsiteX7" fmla="*/ 19050 w 4076700"/>
              <a:gd name="connsiteY7" fmla="*/ 38100 h 306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76700" h="3067050">
                <a:moveTo>
                  <a:pt x="19050" y="38100"/>
                </a:moveTo>
                <a:lnTo>
                  <a:pt x="19050" y="2162175"/>
                </a:lnTo>
                <a:lnTo>
                  <a:pt x="781050" y="2162175"/>
                </a:lnTo>
                <a:lnTo>
                  <a:pt x="781050" y="3067050"/>
                </a:lnTo>
                <a:lnTo>
                  <a:pt x="4076700" y="3067050"/>
                </a:lnTo>
                <a:lnTo>
                  <a:pt x="4076700" y="0"/>
                </a:lnTo>
                <a:lnTo>
                  <a:pt x="0" y="0"/>
                </a:lnTo>
                <a:lnTo>
                  <a:pt x="19050" y="3810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30000"/>
            </a:schemeClr>
          </a:solidFill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1" name="직사각형 280">
            <a:extLst>
              <a:ext uri="{FF2B5EF4-FFF2-40B4-BE49-F238E27FC236}">
                <a16:creationId xmlns:a16="http://schemas.microsoft.com/office/drawing/2014/main" id="{0930EFFD-25B6-A1BE-E68D-47EBB1349FD8}"/>
              </a:ext>
            </a:extLst>
          </p:cNvPr>
          <p:cNvSpPr/>
          <p:nvPr/>
        </p:nvSpPr>
        <p:spPr>
          <a:xfrm>
            <a:off x="4669299" y="4636987"/>
            <a:ext cx="2477511" cy="1382630"/>
          </a:xfrm>
          <a:prstGeom prst="rect">
            <a:avLst/>
          </a:prstGeom>
          <a:solidFill>
            <a:schemeClr val="accent1">
              <a:alpha val="20000"/>
            </a:schemeClr>
          </a:solidFill>
          <a:ln w="1905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CA9557-870E-B3F1-81F3-10C817DA42BE}"/>
              </a:ext>
            </a:extLst>
          </p:cNvPr>
          <p:cNvSpPr txBox="1"/>
          <p:nvPr/>
        </p:nvSpPr>
        <p:spPr>
          <a:xfrm>
            <a:off x="188982" y="6019618"/>
            <a:ext cx="34077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Acronyms</a:t>
            </a:r>
          </a:p>
          <a:p>
            <a:r>
              <a:rPr lang="en-US" altLang="ko-KR" sz="1000" b="1" dirty="0">
                <a:latin typeface="+mn-ea"/>
              </a:rPr>
              <a:t>- GCF : Gain Correction Factor</a:t>
            </a:r>
          </a:p>
          <a:p>
            <a:r>
              <a:rPr lang="en-US" altLang="ko-KR" sz="1000" b="1" dirty="0">
                <a:latin typeface="+mn-ea"/>
              </a:rPr>
              <a:t>- TCF : Turbidity Correction Factor</a:t>
            </a:r>
            <a:endParaRPr lang="ko-KR" altLang="en-US" sz="1000" b="1" dirty="0">
              <a:latin typeface="+mn-ea"/>
            </a:endParaRP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67E7AFFF-2772-42CA-69F2-7420E34678D2}"/>
              </a:ext>
            </a:extLst>
          </p:cNvPr>
          <p:cNvSpPr txBox="1"/>
          <p:nvPr/>
        </p:nvSpPr>
        <p:spPr>
          <a:xfrm>
            <a:off x="41723" y="2490806"/>
            <a:ext cx="7864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Analog</a:t>
            </a:r>
          </a:p>
          <a:p>
            <a:pPr algn="ctr"/>
            <a:r>
              <a:rPr lang="en-US" altLang="ko-KR" sz="1000" b="1" dirty="0">
                <a:latin typeface="+mn-ea"/>
              </a:rPr>
              <a:t>PD signal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B8F19EED-8C96-9FF1-ED1A-225A849B5CC5}"/>
              </a:ext>
            </a:extLst>
          </p:cNvPr>
          <p:cNvGrpSpPr>
            <a:grpSpLocks noChangeAspect="1"/>
          </p:cNvGrpSpPr>
          <p:nvPr/>
        </p:nvGrpSpPr>
        <p:grpSpPr>
          <a:xfrm>
            <a:off x="1342661" y="2432573"/>
            <a:ext cx="348943" cy="404774"/>
            <a:chOff x="1049720" y="4110142"/>
            <a:chExt cx="436179" cy="505968"/>
          </a:xfrm>
        </p:grpSpPr>
        <p:sp>
          <p:nvSpPr>
            <p:cNvPr id="440" name="이등변 삼각형 439">
              <a:extLst>
                <a:ext uri="{FF2B5EF4-FFF2-40B4-BE49-F238E27FC236}">
                  <a16:creationId xmlns:a16="http://schemas.microsoft.com/office/drawing/2014/main" id="{4715E79B-A56B-F3D1-A0CE-F100C629E32D}"/>
                </a:ext>
              </a:extLst>
            </p:cNvPr>
            <p:cNvSpPr/>
            <p:nvPr/>
          </p:nvSpPr>
          <p:spPr>
            <a:xfrm rot="5400000">
              <a:off x="1014826" y="4145036"/>
              <a:ext cx="505968" cy="436179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0" name="TextBox 459">
              <a:extLst>
                <a:ext uri="{FF2B5EF4-FFF2-40B4-BE49-F238E27FC236}">
                  <a16:creationId xmlns:a16="http://schemas.microsoft.com/office/drawing/2014/main" id="{8BC742F0-A7B8-E6B4-9191-65E278463F8B}"/>
                </a:ext>
              </a:extLst>
            </p:cNvPr>
            <p:cNvSpPr txBox="1"/>
            <p:nvPr/>
          </p:nvSpPr>
          <p:spPr>
            <a:xfrm>
              <a:off x="1064960" y="4240013"/>
              <a:ext cx="317543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>
                  <a:latin typeface="+mn-ea"/>
                </a:rPr>
                <a:t>x64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AF36498-95AB-6F84-A618-A4A16E706F91}"/>
              </a:ext>
            </a:extLst>
          </p:cNvPr>
          <p:cNvGrpSpPr>
            <a:grpSpLocks noChangeAspect="1"/>
          </p:cNvGrpSpPr>
          <p:nvPr/>
        </p:nvGrpSpPr>
        <p:grpSpPr>
          <a:xfrm>
            <a:off x="1342662" y="1613476"/>
            <a:ext cx="348943" cy="404774"/>
            <a:chOff x="1049720" y="4110142"/>
            <a:chExt cx="436179" cy="505968"/>
          </a:xfrm>
        </p:grpSpPr>
        <p:sp>
          <p:nvSpPr>
            <p:cNvPr id="52" name="이등변 삼각형 51">
              <a:extLst>
                <a:ext uri="{FF2B5EF4-FFF2-40B4-BE49-F238E27FC236}">
                  <a16:creationId xmlns:a16="http://schemas.microsoft.com/office/drawing/2014/main" id="{71227349-3B30-C813-D7C7-765E4873C79B}"/>
                </a:ext>
              </a:extLst>
            </p:cNvPr>
            <p:cNvSpPr/>
            <p:nvPr/>
          </p:nvSpPr>
          <p:spPr>
            <a:xfrm rot="5400000">
              <a:off x="1014826" y="4145036"/>
              <a:ext cx="505968" cy="436179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70499BC-3ABA-80EE-EC53-15974034C4B9}"/>
                </a:ext>
              </a:extLst>
            </p:cNvPr>
            <p:cNvSpPr txBox="1"/>
            <p:nvPr/>
          </p:nvSpPr>
          <p:spPr>
            <a:xfrm>
              <a:off x="1064960" y="4240014"/>
              <a:ext cx="247708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>
                  <a:latin typeface="+mn-ea"/>
                </a:rPr>
                <a:t>x1</a:t>
              </a:r>
            </a:p>
          </p:txBody>
        </p:sp>
      </p:grp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8D8FE310-6CEB-7593-73E0-6A5849CC86B8}"/>
              </a:ext>
            </a:extLst>
          </p:cNvPr>
          <p:cNvCxnSpPr>
            <a:cxnSpLocks/>
          </p:cNvCxnSpPr>
          <p:nvPr/>
        </p:nvCxnSpPr>
        <p:spPr>
          <a:xfrm>
            <a:off x="727887" y="2641652"/>
            <a:ext cx="626966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05940441-C7CD-76B0-8077-2BFB140BABBA}"/>
              </a:ext>
            </a:extLst>
          </p:cNvPr>
          <p:cNvCxnSpPr>
            <a:cxnSpLocks/>
          </p:cNvCxnSpPr>
          <p:nvPr/>
        </p:nvCxnSpPr>
        <p:spPr>
          <a:xfrm>
            <a:off x="1143109" y="1818833"/>
            <a:ext cx="199552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직선 화살표 연결선 458">
            <a:extLst>
              <a:ext uri="{FF2B5EF4-FFF2-40B4-BE49-F238E27FC236}">
                <a16:creationId xmlns:a16="http://schemas.microsoft.com/office/drawing/2014/main" id="{E103536E-14BB-3B43-4D22-47CF3B03C085}"/>
              </a:ext>
            </a:extLst>
          </p:cNvPr>
          <p:cNvCxnSpPr>
            <a:cxnSpLocks/>
          </p:cNvCxnSpPr>
          <p:nvPr/>
        </p:nvCxnSpPr>
        <p:spPr>
          <a:xfrm flipV="1">
            <a:off x="1152634" y="1819866"/>
            <a:ext cx="0" cy="373990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직선 화살표 연결선 460">
            <a:extLst>
              <a:ext uri="{FF2B5EF4-FFF2-40B4-BE49-F238E27FC236}">
                <a16:creationId xmlns:a16="http://schemas.microsoft.com/office/drawing/2014/main" id="{41569FF1-0CB3-CDB2-0180-AEE94DD32259}"/>
              </a:ext>
            </a:extLst>
          </p:cNvPr>
          <p:cNvCxnSpPr>
            <a:cxnSpLocks/>
          </p:cNvCxnSpPr>
          <p:nvPr/>
        </p:nvCxnSpPr>
        <p:spPr>
          <a:xfrm>
            <a:off x="1693116" y="2639151"/>
            <a:ext cx="159826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직선 화살표 연결선 471">
            <a:extLst>
              <a:ext uri="{FF2B5EF4-FFF2-40B4-BE49-F238E27FC236}">
                <a16:creationId xmlns:a16="http://schemas.microsoft.com/office/drawing/2014/main" id="{725C2754-5E5B-E168-9572-31F6759025B0}"/>
              </a:ext>
            </a:extLst>
          </p:cNvPr>
          <p:cNvCxnSpPr>
            <a:cxnSpLocks/>
          </p:cNvCxnSpPr>
          <p:nvPr/>
        </p:nvCxnSpPr>
        <p:spPr>
          <a:xfrm>
            <a:off x="1693116" y="1813225"/>
            <a:ext cx="159826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5" name="직사각형 474">
            <a:extLst>
              <a:ext uri="{FF2B5EF4-FFF2-40B4-BE49-F238E27FC236}">
                <a16:creationId xmlns:a16="http://schemas.microsoft.com/office/drawing/2014/main" id="{6B94CEE0-92F6-D53F-6189-CD9A3537D4AC}"/>
              </a:ext>
            </a:extLst>
          </p:cNvPr>
          <p:cNvSpPr/>
          <p:nvPr/>
        </p:nvSpPr>
        <p:spPr>
          <a:xfrm>
            <a:off x="1853867" y="1593614"/>
            <a:ext cx="582568" cy="12253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ADC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3660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78" name="직선 화살표 연결선 477">
            <a:extLst>
              <a:ext uri="{FF2B5EF4-FFF2-40B4-BE49-F238E27FC236}">
                <a16:creationId xmlns:a16="http://schemas.microsoft.com/office/drawing/2014/main" id="{09AD1231-CF0E-E3E7-3FD9-A66A1CB25603}"/>
              </a:ext>
            </a:extLst>
          </p:cNvPr>
          <p:cNvCxnSpPr>
            <a:cxnSpLocks/>
          </p:cNvCxnSpPr>
          <p:nvPr/>
        </p:nvCxnSpPr>
        <p:spPr>
          <a:xfrm>
            <a:off x="1852942" y="1813225"/>
            <a:ext cx="583493" cy="0"/>
          </a:xfrm>
          <a:prstGeom prst="straightConnector1">
            <a:avLst/>
          </a:prstGeom>
          <a:ln>
            <a:solidFill>
              <a:srgbClr val="3366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직선 화살표 연결선 479">
            <a:extLst>
              <a:ext uri="{FF2B5EF4-FFF2-40B4-BE49-F238E27FC236}">
                <a16:creationId xmlns:a16="http://schemas.microsoft.com/office/drawing/2014/main" id="{7AE5B1E4-20F9-68C6-52D8-086A1CAC91CD}"/>
              </a:ext>
            </a:extLst>
          </p:cNvPr>
          <p:cNvCxnSpPr>
            <a:cxnSpLocks/>
          </p:cNvCxnSpPr>
          <p:nvPr/>
        </p:nvCxnSpPr>
        <p:spPr>
          <a:xfrm>
            <a:off x="1852942" y="2637930"/>
            <a:ext cx="583493" cy="0"/>
          </a:xfrm>
          <a:prstGeom prst="straightConnector1">
            <a:avLst/>
          </a:prstGeom>
          <a:ln>
            <a:solidFill>
              <a:srgbClr val="3366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4" name="TextBox 483">
            <a:extLst>
              <a:ext uri="{FF2B5EF4-FFF2-40B4-BE49-F238E27FC236}">
                <a16:creationId xmlns:a16="http://schemas.microsoft.com/office/drawing/2014/main" id="{E16AAF4C-1B4A-C204-E553-107A2F67B28B}"/>
              </a:ext>
            </a:extLst>
          </p:cNvPr>
          <p:cNvSpPr txBox="1"/>
          <p:nvPr/>
        </p:nvSpPr>
        <p:spPr>
          <a:xfrm>
            <a:off x="6177225" y="1598767"/>
            <a:ext cx="58256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RXD_B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4DB30C8C-B0A6-4FEC-1D05-7A5248A688BE}"/>
              </a:ext>
            </a:extLst>
          </p:cNvPr>
          <p:cNvSpPr txBox="1"/>
          <p:nvPr/>
        </p:nvSpPr>
        <p:spPr>
          <a:xfrm>
            <a:off x="8054094" y="1209600"/>
            <a:ext cx="1584981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b="1" u="sng" dirty="0">
                <a:solidFill>
                  <a:srgbClr val="0000FF"/>
                </a:solidFill>
                <a:latin typeface="+mn-ea"/>
              </a:rPr>
              <a:t>Select : 12.5 mV boundary</a:t>
            </a:r>
          </a:p>
          <a:p>
            <a:r>
              <a:rPr lang="en-US" altLang="ko-KR" sz="800" b="1" dirty="0">
                <a:solidFill>
                  <a:srgbClr val="0000FF"/>
                </a:solidFill>
                <a:latin typeface="+mn-ea"/>
              </a:rPr>
              <a:t>ADC_x1 </a:t>
            </a:r>
            <a:r>
              <a:rPr lang="en-US" altLang="ko-KR" sz="8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≥</a:t>
            </a:r>
            <a:r>
              <a:rPr lang="en-US" altLang="ko-KR" sz="800" b="1" dirty="0">
                <a:solidFill>
                  <a:srgbClr val="0000FF"/>
                </a:solidFill>
                <a:latin typeface="+mn-ea"/>
              </a:rPr>
              <a:t> 0x100 : Z = RXD_B</a:t>
            </a:r>
          </a:p>
          <a:p>
            <a:r>
              <a:rPr lang="en-US" altLang="ko-KR" sz="800" b="1" dirty="0">
                <a:solidFill>
                  <a:srgbClr val="0000FF"/>
                </a:solidFill>
                <a:latin typeface="+mn-ea"/>
              </a:rPr>
              <a:t>ADC_X1 &lt; 0x100 : Z = RXD_A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9F7AAD69-4B60-ADD0-38B0-3E8476CDE523}"/>
              </a:ext>
            </a:extLst>
          </p:cNvPr>
          <p:cNvSpPr txBox="1"/>
          <p:nvPr/>
        </p:nvSpPr>
        <p:spPr>
          <a:xfrm>
            <a:off x="4960982" y="4740764"/>
            <a:ext cx="913949" cy="55399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PS : BASE_REF</a:t>
            </a:r>
          </a:p>
          <a:p>
            <a:pPr algn="ctr"/>
            <a:r>
              <a:rPr lang="en-US" altLang="ko-KR" sz="1000" b="1" dirty="0">
                <a:latin typeface="+mn-ea"/>
              </a:rPr>
              <a:t>- 750 mV (0xC000)</a:t>
            </a:r>
          </a:p>
        </p:txBody>
      </p:sp>
      <p:cxnSp>
        <p:nvCxnSpPr>
          <p:cNvPr id="496" name="직선 화살표 연결선 495">
            <a:extLst>
              <a:ext uri="{FF2B5EF4-FFF2-40B4-BE49-F238E27FC236}">
                <a16:creationId xmlns:a16="http://schemas.microsoft.com/office/drawing/2014/main" id="{BB2C34ED-1EEC-3074-159C-FC90D20ADEB5}"/>
              </a:ext>
            </a:extLst>
          </p:cNvPr>
          <p:cNvCxnSpPr>
            <a:cxnSpLocks/>
          </p:cNvCxnSpPr>
          <p:nvPr/>
        </p:nvCxnSpPr>
        <p:spPr>
          <a:xfrm>
            <a:off x="7277316" y="2638416"/>
            <a:ext cx="538949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직선 화살표 연결선 496">
            <a:extLst>
              <a:ext uri="{FF2B5EF4-FFF2-40B4-BE49-F238E27FC236}">
                <a16:creationId xmlns:a16="http://schemas.microsoft.com/office/drawing/2014/main" id="{1DC43A69-28C6-33EB-CBDE-D311CCD4627C}"/>
              </a:ext>
            </a:extLst>
          </p:cNvPr>
          <p:cNvCxnSpPr>
            <a:cxnSpLocks/>
          </p:cNvCxnSpPr>
          <p:nvPr/>
        </p:nvCxnSpPr>
        <p:spPr>
          <a:xfrm>
            <a:off x="5770779" y="2637930"/>
            <a:ext cx="105886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6880F9BC-6229-E4E5-7A58-583E692F8236}"/>
              </a:ext>
            </a:extLst>
          </p:cNvPr>
          <p:cNvGrpSpPr/>
          <p:nvPr/>
        </p:nvGrpSpPr>
        <p:grpSpPr>
          <a:xfrm>
            <a:off x="6820038" y="2218645"/>
            <a:ext cx="468366" cy="641793"/>
            <a:chOff x="4338617" y="3843915"/>
            <a:chExt cx="468366" cy="641793"/>
          </a:xfrm>
        </p:grpSpPr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DC0B96C0-0B2A-7FBA-F34F-7A0E8D804201}"/>
                </a:ext>
              </a:extLst>
            </p:cNvPr>
            <p:cNvSpPr txBox="1"/>
            <p:nvPr/>
          </p:nvSpPr>
          <p:spPr>
            <a:xfrm>
              <a:off x="4338617" y="3843915"/>
              <a:ext cx="466880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>
                  <a:latin typeface="+mn-ea"/>
                </a:rPr>
                <a:t>MULT</a:t>
              </a:r>
            </a:p>
          </p:txBody>
        </p:sp>
        <p:sp>
          <p:nvSpPr>
            <p:cNvPr id="505" name="순서도: 가산 접합 504">
              <a:extLst>
                <a:ext uri="{FF2B5EF4-FFF2-40B4-BE49-F238E27FC236}">
                  <a16:creationId xmlns:a16="http://schemas.microsoft.com/office/drawing/2014/main" id="{4FC7A41F-0C70-D766-1CF9-7976884BECE9}"/>
                </a:ext>
              </a:extLst>
            </p:cNvPr>
            <p:cNvSpPr/>
            <p:nvPr/>
          </p:nvSpPr>
          <p:spPr>
            <a:xfrm>
              <a:off x="4359308" y="4038033"/>
              <a:ext cx="447675" cy="447675"/>
            </a:xfrm>
            <a:prstGeom prst="flowChartSummingJunction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06" name="순서도: 수동 연산 505">
            <a:extLst>
              <a:ext uri="{FF2B5EF4-FFF2-40B4-BE49-F238E27FC236}">
                <a16:creationId xmlns:a16="http://schemas.microsoft.com/office/drawing/2014/main" id="{81AFF6B9-B12B-21D7-975C-12CBD7CBF1A1}"/>
              </a:ext>
            </a:extLst>
          </p:cNvPr>
          <p:cNvSpPr/>
          <p:nvPr/>
        </p:nvSpPr>
        <p:spPr>
          <a:xfrm rot="16200000">
            <a:off x="7328088" y="2021316"/>
            <a:ext cx="1349662" cy="373307"/>
          </a:xfrm>
          <a:prstGeom prst="flowChartManualOpera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MUX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8380FD6C-1138-C018-B773-1A7C49799F78}"/>
              </a:ext>
            </a:extLst>
          </p:cNvPr>
          <p:cNvGrpSpPr/>
          <p:nvPr/>
        </p:nvGrpSpPr>
        <p:grpSpPr>
          <a:xfrm>
            <a:off x="6820038" y="1402027"/>
            <a:ext cx="466880" cy="641677"/>
            <a:chOff x="4338617" y="2779647"/>
            <a:chExt cx="466880" cy="641677"/>
          </a:xfrm>
        </p:grpSpPr>
        <p:sp>
          <p:nvSpPr>
            <p:cNvPr id="508" name="순서도: 가산 접합 507">
              <a:extLst>
                <a:ext uri="{FF2B5EF4-FFF2-40B4-BE49-F238E27FC236}">
                  <a16:creationId xmlns:a16="http://schemas.microsoft.com/office/drawing/2014/main" id="{47A62503-15BA-8FD1-0CCB-9A463B41F508}"/>
                </a:ext>
              </a:extLst>
            </p:cNvPr>
            <p:cNvSpPr/>
            <p:nvPr/>
          </p:nvSpPr>
          <p:spPr>
            <a:xfrm>
              <a:off x="4348220" y="2973649"/>
              <a:ext cx="447675" cy="447675"/>
            </a:xfrm>
            <a:prstGeom prst="flowChartSummingJunction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7ADFCDBF-7C20-36B2-CF71-9AEC14A2B2BF}"/>
                </a:ext>
              </a:extLst>
            </p:cNvPr>
            <p:cNvSpPr txBox="1"/>
            <p:nvPr/>
          </p:nvSpPr>
          <p:spPr>
            <a:xfrm>
              <a:off x="4338617" y="2779647"/>
              <a:ext cx="466880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>
                  <a:latin typeface="+mn-ea"/>
                </a:rPr>
                <a:t>MULT</a:t>
              </a:r>
            </a:p>
          </p:txBody>
        </p:sp>
      </p:grpSp>
      <p:cxnSp>
        <p:nvCxnSpPr>
          <p:cNvPr id="510" name="직선 화살표 연결선 509">
            <a:extLst>
              <a:ext uri="{FF2B5EF4-FFF2-40B4-BE49-F238E27FC236}">
                <a16:creationId xmlns:a16="http://schemas.microsoft.com/office/drawing/2014/main" id="{8137A5D3-C93D-C498-4ABA-D206DEC231B5}"/>
              </a:ext>
            </a:extLst>
          </p:cNvPr>
          <p:cNvCxnSpPr>
            <a:cxnSpLocks/>
          </p:cNvCxnSpPr>
          <p:nvPr/>
        </p:nvCxnSpPr>
        <p:spPr>
          <a:xfrm>
            <a:off x="5770779" y="1813225"/>
            <a:ext cx="10492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B25F53C5-5B1F-E59D-A86A-B511EBB6F027}"/>
              </a:ext>
            </a:extLst>
          </p:cNvPr>
          <p:cNvCxnSpPr>
            <a:cxnSpLocks/>
          </p:cNvCxnSpPr>
          <p:nvPr/>
        </p:nvCxnSpPr>
        <p:spPr>
          <a:xfrm>
            <a:off x="7267142" y="1819866"/>
            <a:ext cx="54912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66B444FC-7797-A5C5-A18E-FAF89542340B}"/>
              </a:ext>
            </a:extLst>
          </p:cNvPr>
          <p:cNvCxnSpPr>
            <a:cxnSpLocks/>
          </p:cNvCxnSpPr>
          <p:nvPr/>
        </p:nvCxnSpPr>
        <p:spPr>
          <a:xfrm flipV="1">
            <a:off x="7074092" y="2860470"/>
            <a:ext cx="0" cy="2978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5244472F-C969-B131-A8F3-A74F4978C12B}"/>
              </a:ext>
            </a:extLst>
          </p:cNvPr>
          <p:cNvSpPr txBox="1"/>
          <p:nvPr/>
        </p:nvSpPr>
        <p:spPr>
          <a:xfrm>
            <a:off x="6276272" y="2106692"/>
            <a:ext cx="375819" cy="24622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64</a:t>
            </a:r>
          </a:p>
        </p:txBody>
      </p: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id="{F1BF855B-0506-A8EF-0517-B7A1FA7D55C9}"/>
              </a:ext>
            </a:extLst>
          </p:cNvPr>
          <p:cNvCxnSpPr>
            <a:cxnSpLocks/>
          </p:cNvCxnSpPr>
          <p:nvPr/>
        </p:nvCxnSpPr>
        <p:spPr>
          <a:xfrm flipV="1">
            <a:off x="7058070" y="2028647"/>
            <a:ext cx="0" cy="2028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8C7DAC33-5672-A00B-419D-5CEA8E479E68}"/>
              </a:ext>
            </a:extLst>
          </p:cNvPr>
          <p:cNvCxnSpPr>
            <a:cxnSpLocks/>
          </p:cNvCxnSpPr>
          <p:nvPr/>
        </p:nvCxnSpPr>
        <p:spPr>
          <a:xfrm>
            <a:off x="6652092" y="2230668"/>
            <a:ext cx="404146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87CFD1D6-CF82-5209-C8D0-1DC3350955CD}"/>
              </a:ext>
            </a:extLst>
          </p:cNvPr>
          <p:cNvSpPr txBox="1"/>
          <p:nvPr/>
        </p:nvSpPr>
        <p:spPr>
          <a:xfrm>
            <a:off x="7653571" y="1640630"/>
            <a:ext cx="148842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A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D7B93EBB-B1AB-C075-144A-9D3CF6F14BF1}"/>
              </a:ext>
            </a:extLst>
          </p:cNvPr>
          <p:cNvSpPr txBox="1"/>
          <p:nvPr/>
        </p:nvSpPr>
        <p:spPr>
          <a:xfrm>
            <a:off x="7653571" y="2455449"/>
            <a:ext cx="148842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B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20967457-5878-C8B4-F59D-596D5FEEAE82}"/>
              </a:ext>
            </a:extLst>
          </p:cNvPr>
          <p:cNvSpPr txBox="1"/>
          <p:nvPr/>
        </p:nvSpPr>
        <p:spPr>
          <a:xfrm>
            <a:off x="8200646" y="1993041"/>
            <a:ext cx="148842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Z</a:t>
            </a:r>
          </a:p>
        </p:txBody>
      </p: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92196B33-5B11-768C-BE31-90B66FCE2D59}"/>
              </a:ext>
            </a:extLst>
          </p:cNvPr>
          <p:cNvCxnSpPr>
            <a:cxnSpLocks/>
          </p:cNvCxnSpPr>
          <p:nvPr/>
        </p:nvCxnSpPr>
        <p:spPr>
          <a:xfrm>
            <a:off x="8002917" y="1194132"/>
            <a:ext cx="0" cy="4731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화살표 연결선 158">
            <a:extLst>
              <a:ext uri="{FF2B5EF4-FFF2-40B4-BE49-F238E27FC236}">
                <a16:creationId xmlns:a16="http://schemas.microsoft.com/office/drawing/2014/main" id="{B019778B-8587-B63A-AA07-3C33146DC29C}"/>
              </a:ext>
            </a:extLst>
          </p:cNvPr>
          <p:cNvCxnSpPr>
            <a:cxnSpLocks/>
          </p:cNvCxnSpPr>
          <p:nvPr/>
        </p:nvCxnSpPr>
        <p:spPr>
          <a:xfrm flipV="1">
            <a:off x="6127201" y="1194132"/>
            <a:ext cx="0" cy="61909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1EBAB2F9-562C-7A29-11C8-2BD23F7AA98A}"/>
              </a:ext>
            </a:extLst>
          </p:cNvPr>
          <p:cNvGrpSpPr/>
          <p:nvPr/>
        </p:nvGrpSpPr>
        <p:grpSpPr>
          <a:xfrm>
            <a:off x="8653487" y="1776302"/>
            <a:ext cx="468366" cy="641793"/>
            <a:chOff x="4338617" y="3843915"/>
            <a:chExt cx="468366" cy="641793"/>
          </a:xfrm>
        </p:grpSpPr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B67F11DC-9B67-E791-377D-B5E0939FE217}"/>
                </a:ext>
              </a:extLst>
            </p:cNvPr>
            <p:cNvSpPr txBox="1"/>
            <p:nvPr/>
          </p:nvSpPr>
          <p:spPr>
            <a:xfrm>
              <a:off x="4338617" y="3843915"/>
              <a:ext cx="466880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>
                  <a:latin typeface="+mn-ea"/>
                </a:rPr>
                <a:t>MULT</a:t>
              </a:r>
            </a:p>
          </p:txBody>
        </p:sp>
        <p:sp>
          <p:nvSpPr>
            <p:cNvPr id="169" name="순서도: 가산 접합 168">
              <a:extLst>
                <a:ext uri="{FF2B5EF4-FFF2-40B4-BE49-F238E27FC236}">
                  <a16:creationId xmlns:a16="http://schemas.microsoft.com/office/drawing/2014/main" id="{6A27A153-31AA-95BB-87C0-CE9F2242F6EF}"/>
                </a:ext>
              </a:extLst>
            </p:cNvPr>
            <p:cNvSpPr/>
            <p:nvPr/>
          </p:nvSpPr>
          <p:spPr>
            <a:xfrm>
              <a:off x="4359308" y="4038033"/>
              <a:ext cx="447675" cy="447675"/>
            </a:xfrm>
            <a:prstGeom prst="flowChartSummingJunction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70" name="직선 화살표 연결선 169">
            <a:extLst>
              <a:ext uri="{FF2B5EF4-FFF2-40B4-BE49-F238E27FC236}">
                <a16:creationId xmlns:a16="http://schemas.microsoft.com/office/drawing/2014/main" id="{FCB05976-675F-E7BD-E99B-82A98E6A06D4}"/>
              </a:ext>
            </a:extLst>
          </p:cNvPr>
          <p:cNvCxnSpPr>
            <a:cxnSpLocks/>
          </p:cNvCxnSpPr>
          <p:nvPr/>
        </p:nvCxnSpPr>
        <p:spPr>
          <a:xfrm>
            <a:off x="8200646" y="2190973"/>
            <a:ext cx="4686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화살표 연결선 172">
            <a:extLst>
              <a:ext uri="{FF2B5EF4-FFF2-40B4-BE49-F238E27FC236}">
                <a16:creationId xmlns:a16="http://schemas.microsoft.com/office/drawing/2014/main" id="{ED66B5E0-1C13-8172-3F11-40C8C7FE119D}"/>
              </a:ext>
            </a:extLst>
          </p:cNvPr>
          <p:cNvCxnSpPr>
            <a:cxnSpLocks/>
          </p:cNvCxnSpPr>
          <p:nvPr/>
        </p:nvCxnSpPr>
        <p:spPr>
          <a:xfrm flipV="1">
            <a:off x="8908056" y="2412763"/>
            <a:ext cx="0" cy="7029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174">
            <a:extLst>
              <a:ext uri="{FF2B5EF4-FFF2-40B4-BE49-F238E27FC236}">
                <a16:creationId xmlns:a16="http://schemas.microsoft.com/office/drawing/2014/main" id="{48875BA0-7D27-CB72-2190-432DC37F1872}"/>
              </a:ext>
            </a:extLst>
          </p:cNvPr>
          <p:cNvCxnSpPr>
            <a:cxnSpLocks/>
          </p:cNvCxnSpPr>
          <p:nvPr/>
        </p:nvCxnSpPr>
        <p:spPr>
          <a:xfrm>
            <a:off x="9120367" y="2175207"/>
            <a:ext cx="13606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B5A821F7-B84E-7366-B014-AC9F6E2153D7}"/>
              </a:ext>
            </a:extLst>
          </p:cNvPr>
          <p:cNvSpPr txBox="1"/>
          <p:nvPr/>
        </p:nvSpPr>
        <p:spPr>
          <a:xfrm>
            <a:off x="1872979" y="2435428"/>
            <a:ext cx="55998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Ch A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9D159043-F1AF-6919-C274-2C235F298434}"/>
              </a:ext>
            </a:extLst>
          </p:cNvPr>
          <p:cNvSpPr txBox="1"/>
          <p:nvPr/>
        </p:nvSpPr>
        <p:spPr>
          <a:xfrm>
            <a:off x="1872979" y="1625520"/>
            <a:ext cx="55998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Ch B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ED1A6BF2-730A-CBB9-F0F7-DC05F478B6A9}"/>
              </a:ext>
            </a:extLst>
          </p:cNvPr>
          <p:cNvSpPr txBox="1"/>
          <p:nvPr/>
        </p:nvSpPr>
        <p:spPr>
          <a:xfrm>
            <a:off x="10481009" y="2042524"/>
            <a:ext cx="1284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ADC_RXD[31:0]</a:t>
            </a:r>
          </a:p>
          <a:p>
            <a:r>
              <a:rPr lang="en-US" altLang="ko-KR" sz="1000" b="1" dirty="0">
                <a:latin typeface="+mn-ea"/>
              </a:rPr>
              <a:t>ADC_DONE</a:t>
            </a: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98A31400-7DA4-A90B-2665-9BD38B4A00DE}"/>
              </a:ext>
            </a:extLst>
          </p:cNvPr>
          <p:cNvSpPr/>
          <p:nvPr/>
        </p:nvSpPr>
        <p:spPr>
          <a:xfrm>
            <a:off x="4962116" y="5374206"/>
            <a:ext cx="911683" cy="3842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XADC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(FPGA)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5FB24FD5-EDDC-F033-C587-C20D1153DE70}"/>
              </a:ext>
            </a:extLst>
          </p:cNvPr>
          <p:cNvCxnSpPr>
            <a:cxnSpLocks/>
          </p:cNvCxnSpPr>
          <p:nvPr/>
        </p:nvCxnSpPr>
        <p:spPr>
          <a:xfrm>
            <a:off x="1152634" y="5559768"/>
            <a:ext cx="189525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7C0F8E4A-AB7D-2611-E247-3D5CDF257AD6}"/>
              </a:ext>
            </a:extLst>
          </p:cNvPr>
          <p:cNvSpPr/>
          <p:nvPr/>
        </p:nvSpPr>
        <p:spPr>
          <a:xfrm>
            <a:off x="3047887" y="5346480"/>
            <a:ext cx="1143000" cy="41571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 LPF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86" name="그림 185">
            <a:extLst>
              <a:ext uri="{FF2B5EF4-FFF2-40B4-BE49-F238E27FC236}">
                <a16:creationId xmlns:a16="http://schemas.microsoft.com/office/drawing/2014/main" id="{8D27C9E6-CA93-6FA9-D667-E881CFBB3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775" y="5408922"/>
            <a:ext cx="520118" cy="301691"/>
          </a:xfrm>
          <a:prstGeom prst="rect">
            <a:avLst/>
          </a:prstGeom>
        </p:spPr>
      </p:pic>
      <p:cxnSp>
        <p:nvCxnSpPr>
          <p:cNvPr id="187" name="직선 화살표 연결선 186">
            <a:extLst>
              <a:ext uri="{FF2B5EF4-FFF2-40B4-BE49-F238E27FC236}">
                <a16:creationId xmlns:a16="http://schemas.microsoft.com/office/drawing/2014/main" id="{0117E8D5-6554-3FE4-C5AF-D2294F7CFD4D}"/>
              </a:ext>
            </a:extLst>
          </p:cNvPr>
          <p:cNvCxnSpPr>
            <a:cxnSpLocks/>
          </p:cNvCxnSpPr>
          <p:nvPr/>
        </p:nvCxnSpPr>
        <p:spPr>
          <a:xfrm>
            <a:off x="4190887" y="5561609"/>
            <a:ext cx="7689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화살표 연결선 189">
            <a:extLst>
              <a:ext uri="{FF2B5EF4-FFF2-40B4-BE49-F238E27FC236}">
                <a16:creationId xmlns:a16="http://schemas.microsoft.com/office/drawing/2014/main" id="{A3E95DC9-921B-E6F5-0F0F-3781299535AF}"/>
              </a:ext>
            </a:extLst>
          </p:cNvPr>
          <p:cNvCxnSpPr>
            <a:cxnSpLocks/>
          </p:cNvCxnSpPr>
          <p:nvPr/>
        </p:nvCxnSpPr>
        <p:spPr>
          <a:xfrm>
            <a:off x="5873799" y="5546550"/>
            <a:ext cx="15542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D0C2F044-DA6F-006A-9A2D-2B87530D19E7}"/>
              </a:ext>
            </a:extLst>
          </p:cNvPr>
          <p:cNvSpPr txBox="1"/>
          <p:nvPr/>
        </p:nvSpPr>
        <p:spPr>
          <a:xfrm>
            <a:off x="5799418" y="5349361"/>
            <a:ext cx="12730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PS : BASE_MEAS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E94F6B76-A542-777E-6752-4D150D0B4D5B}"/>
                  </a:ext>
                </a:extLst>
              </p:cNvPr>
              <p:cNvSpPr txBox="1"/>
              <p:nvPr/>
            </p:nvSpPr>
            <p:spPr>
              <a:xfrm>
                <a:off x="7428076" y="4981901"/>
                <a:ext cx="1805631" cy="8796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rIns="0" rtlCol="0" anchor="ctr">
                <a:spAutoFit/>
              </a:bodyPr>
              <a:lstStyle/>
              <a:p>
                <a:pPr algn="ctr"/>
                <a:r>
                  <a:rPr lang="en-US" altLang="ko-KR" sz="1000" b="1" dirty="0">
                    <a:latin typeface="+mn-ea"/>
                  </a:rPr>
                  <a:t>   R6 : TCF</a:t>
                </a:r>
              </a:p>
              <a:p>
                <a:pPr algn="ctr"/>
                <a:r>
                  <a:rPr lang="en-US" altLang="ko-KR" sz="1000" b="1" dirty="0">
                    <a:latin typeface="+mn-ea"/>
                  </a:rPr>
                  <a:t> (Turbidity Correction Factor)</a:t>
                </a:r>
              </a:p>
              <a:p>
                <a:pPr algn="ctr"/>
                <a:r>
                  <a:rPr lang="en-US" altLang="ko-KR" sz="1000" b="1" dirty="0">
                    <a:solidFill>
                      <a:srgbClr val="FF0000"/>
                    </a:solidFill>
                    <a:latin typeface="+mn-ea"/>
                  </a:rPr>
                  <a:t>(Q2.14 format)</a:t>
                </a:r>
              </a:p>
              <a:p>
                <a:pPr algn="ctr"/>
                <a:r>
                  <a:rPr lang="en-US" altLang="ko-KR" sz="1000" b="1" dirty="0">
                    <a:latin typeface="+mn-ea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𝑩𝑨𝑺𝑬</m:t>
                        </m:r>
                        <m:r>
                          <a:rPr lang="en-US" altLang="ko-KR" sz="1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ko-KR" sz="1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𝑹𝑬𝑭</m:t>
                        </m:r>
                      </m:num>
                      <m:den>
                        <m:r>
                          <a:rPr lang="en-US" altLang="ko-KR" sz="1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𝑩𝑨𝑺𝑬</m:t>
                        </m:r>
                        <m:r>
                          <a:rPr lang="en-US" altLang="ko-KR" sz="1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ko-KR" sz="1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𝑴𝑬𝑨𝑺</m:t>
                        </m:r>
                      </m:den>
                    </m:f>
                  </m:oMath>
                </a14:m>
                <a:endParaRPr lang="en-US" altLang="ko-KR" sz="1000" b="1" dirty="0">
                  <a:solidFill>
                    <a:srgbClr val="FF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E94F6B76-A542-777E-6752-4D150D0B4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8076" y="4981901"/>
                <a:ext cx="1805631" cy="879600"/>
              </a:xfrm>
              <a:prstGeom prst="rect">
                <a:avLst/>
              </a:prstGeom>
              <a:blipFill>
                <a:blip r:embed="rId3"/>
                <a:stretch>
                  <a:fillRect l="-1007" r="-335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6" name="직선 화살표 연결선 195">
            <a:extLst>
              <a:ext uri="{FF2B5EF4-FFF2-40B4-BE49-F238E27FC236}">
                <a16:creationId xmlns:a16="http://schemas.microsoft.com/office/drawing/2014/main" id="{C4EC2249-C4A7-E33A-536F-8AF542601347}"/>
              </a:ext>
            </a:extLst>
          </p:cNvPr>
          <p:cNvCxnSpPr>
            <a:cxnSpLocks/>
          </p:cNvCxnSpPr>
          <p:nvPr/>
        </p:nvCxnSpPr>
        <p:spPr>
          <a:xfrm>
            <a:off x="6951503" y="5346480"/>
            <a:ext cx="4663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AA7346F3-F393-7F6A-DF4C-D4D5CDE9FCB4}"/>
              </a:ext>
            </a:extLst>
          </p:cNvPr>
          <p:cNvCxnSpPr>
            <a:cxnSpLocks/>
          </p:cNvCxnSpPr>
          <p:nvPr/>
        </p:nvCxnSpPr>
        <p:spPr>
          <a:xfrm flipV="1">
            <a:off x="6951504" y="5056637"/>
            <a:ext cx="0" cy="28984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직선 화살표 연결선 198">
            <a:extLst>
              <a:ext uri="{FF2B5EF4-FFF2-40B4-BE49-F238E27FC236}">
                <a16:creationId xmlns:a16="http://schemas.microsoft.com/office/drawing/2014/main" id="{8D3174B7-66B2-9360-465B-2A7C17019AF0}"/>
              </a:ext>
            </a:extLst>
          </p:cNvPr>
          <p:cNvCxnSpPr>
            <a:cxnSpLocks/>
          </p:cNvCxnSpPr>
          <p:nvPr/>
        </p:nvCxnSpPr>
        <p:spPr>
          <a:xfrm>
            <a:off x="5873799" y="5034518"/>
            <a:ext cx="107770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76DAB383-E8D9-497C-25F4-41A34D45C5E1}"/>
                  </a:ext>
                </a:extLst>
              </p:cNvPr>
              <p:cNvSpPr txBox="1"/>
              <p:nvPr/>
            </p:nvSpPr>
            <p:spPr>
              <a:xfrm>
                <a:off x="5042301" y="3262829"/>
                <a:ext cx="1541469" cy="8796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rIns="0" rtlCol="0" anchor="ctr">
                <a:spAutoFit/>
              </a:bodyPr>
              <a:lstStyle/>
              <a:p>
                <a:pPr algn="ctr"/>
                <a:r>
                  <a:rPr lang="en-US" altLang="ko-KR" sz="1000" b="1" dirty="0">
                    <a:latin typeface="+mn-ea"/>
                  </a:rPr>
                  <a:t>R5 : X64_GCF</a:t>
                </a:r>
              </a:p>
              <a:p>
                <a:pPr algn="ctr"/>
                <a:r>
                  <a:rPr lang="en-US" altLang="ko-KR" sz="1000" b="1" dirty="0">
                    <a:latin typeface="+mn-ea"/>
                  </a:rPr>
                  <a:t> (Gain Correction Factor)</a:t>
                </a:r>
              </a:p>
              <a:p>
                <a:pPr algn="ctr"/>
                <a:r>
                  <a:rPr lang="en-US" altLang="ko-KR" sz="1000" b="1" dirty="0">
                    <a:solidFill>
                      <a:srgbClr val="FF0000"/>
                    </a:solidFill>
                    <a:latin typeface="+mn-ea"/>
                  </a:rPr>
                  <a:t>(Q2.14 format)</a:t>
                </a:r>
              </a:p>
              <a:p>
                <a:pPr algn="ctr"/>
                <a:r>
                  <a:rPr lang="en-US" altLang="ko-KR" sz="1000" b="1" dirty="0">
                    <a:latin typeface="+mn-ea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𝑨𝑫𝑪</m:t>
                        </m:r>
                        <m:r>
                          <a:rPr lang="en-US" altLang="ko-KR" sz="1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ko-KR" sz="1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ko-KR" sz="1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sz="1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× </m:t>
                        </m:r>
                        <m:r>
                          <a:rPr lang="en-US" altLang="ko-KR" sz="1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𝟔𝟒</m:t>
                        </m:r>
                      </m:num>
                      <m:den>
                        <m:r>
                          <a:rPr lang="en-US" altLang="ko-KR" sz="1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𝑨𝑫𝑪</m:t>
                        </m:r>
                        <m:r>
                          <a:rPr lang="en-US" altLang="ko-KR" sz="1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ko-KR" sz="1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ko-KR" sz="1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𝟔𝟒</m:t>
                        </m:r>
                      </m:den>
                    </m:f>
                  </m:oMath>
                </a14:m>
                <a:endParaRPr lang="en-US" altLang="ko-KR" sz="1000" b="1" dirty="0">
                  <a:solidFill>
                    <a:srgbClr val="FF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76DAB383-E8D9-497C-25F4-41A34D45C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2301" y="3262829"/>
                <a:ext cx="1541469" cy="879600"/>
              </a:xfrm>
              <a:prstGeom prst="rect">
                <a:avLst/>
              </a:prstGeom>
              <a:blipFill>
                <a:blip r:embed="rId4"/>
                <a:stretch>
                  <a:fillRect l="-784" r="-35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1" name="직선 화살표 연결선 220">
            <a:extLst>
              <a:ext uri="{FF2B5EF4-FFF2-40B4-BE49-F238E27FC236}">
                <a16:creationId xmlns:a16="http://schemas.microsoft.com/office/drawing/2014/main" id="{0CA520FE-AF78-2173-AC05-27DCAFB0A032}"/>
              </a:ext>
            </a:extLst>
          </p:cNvPr>
          <p:cNvCxnSpPr>
            <a:cxnSpLocks/>
          </p:cNvCxnSpPr>
          <p:nvPr/>
        </p:nvCxnSpPr>
        <p:spPr>
          <a:xfrm flipV="1">
            <a:off x="6126660" y="1819866"/>
            <a:ext cx="0" cy="141579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화살표 연결선 223">
            <a:extLst>
              <a:ext uri="{FF2B5EF4-FFF2-40B4-BE49-F238E27FC236}">
                <a16:creationId xmlns:a16="http://schemas.microsoft.com/office/drawing/2014/main" id="{2554961D-E30D-9695-AC64-4F61FCD0143A}"/>
              </a:ext>
            </a:extLst>
          </p:cNvPr>
          <p:cNvCxnSpPr>
            <a:cxnSpLocks/>
          </p:cNvCxnSpPr>
          <p:nvPr/>
        </p:nvCxnSpPr>
        <p:spPr>
          <a:xfrm flipV="1">
            <a:off x="5984603" y="1028700"/>
            <a:ext cx="0" cy="220695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9E08C92B-9393-2B05-7111-762DD9F6B3E0}"/>
              </a:ext>
            </a:extLst>
          </p:cNvPr>
          <p:cNvSpPr txBox="1"/>
          <p:nvPr/>
        </p:nvSpPr>
        <p:spPr>
          <a:xfrm>
            <a:off x="3783676" y="6150325"/>
            <a:ext cx="1008954" cy="4001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Constant </a:t>
            </a:r>
          </a:p>
          <a:p>
            <a:pPr algn="ctr"/>
            <a:r>
              <a:rPr lang="en-US" altLang="ko-KR" sz="1000" b="1" dirty="0">
                <a:latin typeface="+mn-ea"/>
              </a:rPr>
              <a:t>value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696C5011-2CDA-11B7-B7B8-5D663781A4F4}"/>
              </a:ext>
            </a:extLst>
          </p:cNvPr>
          <p:cNvSpPr txBox="1"/>
          <p:nvPr/>
        </p:nvSpPr>
        <p:spPr>
          <a:xfrm>
            <a:off x="4979604" y="6146777"/>
            <a:ext cx="1008954" cy="4001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Register</a:t>
            </a:r>
          </a:p>
          <a:p>
            <a:pPr algn="ctr"/>
            <a:r>
              <a:rPr lang="en-US" altLang="ko-KR" sz="1000" b="1" dirty="0">
                <a:latin typeface="+mn-ea"/>
              </a:rPr>
              <a:t>(PS calculate)</a:t>
            </a:r>
          </a:p>
        </p:txBody>
      </p:sp>
      <p:sp>
        <p:nvSpPr>
          <p:cNvPr id="257" name="타원 256">
            <a:extLst>
              <a:ext uri="{FF2B5EF4-FFF2-40B4-BE49-F238E27FC236}">
                <a16:creationId xmlns:a16="http://schemas.microsoft.com/office/drawing/2014/main" id="{9788A06F-1F7C-53C1-5A88-420749657A70}"/>
              </a:ext>
            </a:extLst>
          </p:cNvPr>
          <p:cNvSpPr/>
          <p:nvPr/>
        </p:nvSpPr>
        <p:spPr>
          <a:xfrm>
            <a:off x="6074822" y="1770286"/>
            <a:ext cx="78365" cy="783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8" name="타원 257">
            <a:extLst>
              <a:ext uri="{FF2B5EF4-FFF2-40B4-BE49-F238E27FC236}">
                <a16:creationId xmlns:a16="http://schemas.microsoft.com/office/drawing/2014/main" id="{D0D738E9-F225-D567-A3B0-7884A0BA911B}"/>
              </a:ext>
            </a:extLst>
          </p:cNvPr>
          <p:cNvSpPr/>
          <p:nvPr/>
        </p:nvSpPr>
        <p:spPr>
          <a:xfrm>
            <a:off x="1109363" y="2608244"/>
            <a:ext cx="78365" cy="783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0" name="타원 259">
            <a:extLst>
              <a:ext uri="{FF2B5EF4-FFF2-40B4-BE49-F238E27FC236}">
                <a16:creationId xmlns:a16="http://schemas.microsoft.com/office/drawing/2014/main" id="{CE9843A9-AF24-1638-2878-ECEEEE5A0A35}"/>
              </a:ext>
            </a:extLst>
          </p:cNvPr>
          <p:cNvSpPr/>
          <p:nvPr/>
        </p:nvSpPr>
        <p:spPr>
          <a:xfrm>
            <a:off x="5949456" y="2601235"/>
            <a:ext cx="78365" cy="783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805D81F2-42CD-139D-4D06-B08C5D59F116}"/>
              </a:ext>
            </a:extLst>
          </p:cNvPr>
          <p:cNvSpPr txBox="1"/>
          <p:nvPr/>
        </p:nvSpPr>
        <p:spPr>
          <a:xfrm>
            <a:off x="6162891" y="6145641"/>
            <a:ext cx="1008954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Register</a:t>
            </a:r>
          </a:p>
          <a:p>
            <a:pPr algn="ctr"/>
            <a:r>
              <a:rPr lang="en-US" altLang="ko-KR" sz="1000" b="1" dirty="0">
                <a:latin typeface="+mn-ea"/>
              </a:rPr>
              <a:t>(PS setting)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F72F9B85-9319-66D1-6F53-657A1AC1DE7A}"/>
              </a:ext>
            </a:extLst>
          </p:cNvPr>
          <p:cNvSpPr txBox="1"/>
          <p:nvPr/>
        </p:nvSpPr>
        <p:spPr>
          <a:xfrm>
            <a:off x="10351932" y="4814851"/>
            <a:ext cx="1677540" cy="2462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  R1 : NOISE_TH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2E837594-8799-695C-663A-0C0AEC4F6E85}"/>
              </a:ext>
            </a:extLst>
          </p:cNvPr>
          <p:cNvSpPr txBox="1"/>
          <p:nvPr/>
        </p:nvSpPr>
        <p:spPr>
          <a:xfrm>
            <a:off x="10351932" y="5147984"/>
            <a:ext cx="1668934" cy="2462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  R2 : PLS_WIDTH_MIN</a:t>
            </a: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26B48516-8757-47C3-5172-96105C2BB814}"/>
              </a:ext>
            </a:extLst>
          </p:cNvPr>
          <p:cNvSpPr txBox="1"/>
          <p:nvPr/>
        </p:nvSpPr>
        <p:spPr>
          <a:xfrm>
            <a:off x="10351932" y="5488143"/>
            <a:ext cx="1668932" cy="2462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  R3 : PLS_WIDTH_MAX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A02C39BC-1CA2-E464-D1F8-C058BA8D1794}"/>
              </a:ext>
            </a:extLst>
          </p:cNvPr>
          <p:cNvSpPr txBox="1"/>
          <p:nvPr/>
        </p:nvSpPr>
        <p:spPr>
          <a:xfrm>
            <a:off x="10351931" y="5828302"/>
            <a:ext cx="1668931" cy="2462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  R4 : PLS_INTV_MIN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21068201-9729-75C6-CE24-79516C5C0B98}"/>
              </a:ext>
            </a:extLst>
          </p:cNvPr>
          <p:cNvSpPr txBox="1"/>
          <p:nvPr/>
        </p:nvSpPr>
        <p:spPr>
          <a:xfrm>
            <a:off x="10355327" y="4465531"/>
            <a:ext cx="1668930" cy="2462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  R0 : CTRL_REG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1BA65594-9618-7223-8CF2-5979AA831CB2}"/>
              </a:ext>
            </a:extLst>
          </p:cNvPr>
          <p:cNvSpPr txBox="1"/>
          <p:nvPr/>
        </p:nvSpPr>
        <p:spPr>
          <a:xfrm>
            <a:off x="6146768" y="5742512"/>
            <a:ext cx="10000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PS measure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EC6CF9DA-D767-76CB-A167-D6060793D0D1}"/>
                  </a:ext>
                </a:extLst>
              </p:cNvPr>
              <p:cNvSpPr txBox="1"/>
              <p:nvPr/>
            </p:nvSpPr>
            <p:spPr>
              <a:xfrm>
                <a:off x="7428076" y="6169210"/>
                <a:ext cx="3540401" cy="314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 dirty="0">
                    <a:latin typeface="+mn-ea"/>
                  </a:rPr>
                  <a:t>Note : XADC res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sz="1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000" b="1" i="1" smtClean="0">
                            <a:latin typeface="Cambria Math" panose="02040503050406030204" pitchFamily="18" charset="0"/>
                          </a:rPr>
                          <m:t>𝟎𝟎𝟎</m:t>
                        </m:r>
                        <m:r>
                          <a:rPr lang="en-US" altLang="ko-KR" sz="10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000" b="1" i="1" smtClean="0">
                            <a:latin typeface="Cambria Math" panose="02040503050406030204" pitchFamily="18" charset="0"/>
                          </a:rPr>
                          <m:t>𝒎𝑽</m:t>
                        </m:r>
                      </m:num>
                      <m:den>
                        <m:r>
                          <a:rPr lang="en-US" altLang="ko-KR" sz="1000" b="1" i="1" smtClean="0">
                            <a:latin typeface="Cambria Math" panose="02040503050406030204" pitchFamily="18" charset="0"/>
                          </a:rPr>
                          <m:t>𝟔𝟓𝟓𝟑𝟔</m:t>
                        </m:r>
                      </m:den>
                    </m:f>
                    <m:r>
                      <a:rPr lang="en-US" altLang="ko-KR" sz="1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0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sz="10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sz="1000" b="1" i="1" smtClean="0">
                        <a:latin typeface="Cambria Math" panose="02040503050406030204" pitchFamily="18" charset="0"/>
                      </a:rPr>
                      <m:t>𝟎𝟏𝟓𝟐𝟓𝟖𝟕𝟖𝟗</m:t>
                    </m:r>
                  </m:oMath>
                </a14:m>
                <a:endParaRPr lang="en-US" altLang="ko-KR" sz="1000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EC6CF9DA-D767-76CB-A167-D6060793D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8076" y="6169210"/>
                <a:ext cx="3540401" cy="3147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4" name="제목 1">
            <a:extLst>
              <a:ext uri="{FF2B5EF4-FFF2-40B4-BE49-F238E27FC236}">
                <a16:creationId xmlns:a16="http://schemas.microsoft.com/office/drawing/2014/main" id="{3CBCF527-18F6-8208-13D2-AC6D6A8AE3EF}"/>
              </a:ext>
            </a:extLst>
          </p:cNvPr>
          <p:cNvSpPr txBox="1">
            <a:spLocks/>
          </p:cNvSpPr>
          <p:nvPr/>
        </p:nvSpPr>
        <p:spPr>
          <a:xfrm>
            <a:off x="147725" y="13673"/>
            <a:ext cx="11815439" cy="515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FPGA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Block Diagram                                                                     2 / 3</a:t>
            </a:r>
            <a:endParaRPr lang="ko-KR" altLang="en-US" sz="2400" dirty="0">
              <a:solidFill>
                <a:schemeClr val="bg1">
                  <a:lumMod val="9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268D8E-A04C-2A6A-157A-FD2BCC78CDA1}"/>
              </a:ext>
            </a:extLst>
          </p:cNvPr>
          <p:cNvSpPr txBox="1"/>
          <p:nvPr/>
        </p:nvSpPr>
        <p:spPr>
          <a:xfrm>
            <a:off x="421188" y="563688"/>
            <a:ext cx="8924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 dirty="0">
                <a:latin typeface="+mn-ea"/>
              </a:rPr>
              <a:t>FPGA block diagram : ADC data manipulation detail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CF2D44BB-299E-814D-78A4-B3EAA64EBE12}"/>
              </a:ext>
            </a:extLst>
          </p:cNvPr>
          <p:cNvCxnSpPr>
            <a:cxnSpLocks/>
          </p:cNvCxnSpPr>
          <p:nvPr/>
        </p:nvCxnSpPr>
        <p:spPr>
          <a:xfrm>
            <a:off x="9120367" y="2307877"/>
            <a:ext cx="13606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DF14A85-9486-AF12-94AB-88A745114F54}"/>
              </a:ext>
            </a:extLst>
          </p:cNvPr>
          <p:cNvGrpSpPr/>
          <p:nvPr/>
        </p:nvGrpSpPr>
        <p:grpSpPr>
          <a:xfrm>
            <a:off x="6665777" y="3151334"/>
            <a:ext cx="823139" cy="246221"/>
            <a:chOff x="7104960" y="3692249"/>
            <a:chExt cx="823139" cy="246221"/>
          </a:xfrm>
        </p:grpSpPr>
        <p:sp>
          <p:nvSpPr>
            <p:cNvPr id="9" name="순서도: 수동 연산 8">
              <a:extLst>
                <a:ext uri="{FF2B5EF4-FFF2-40B4-BE49-F238E27FC236}">
                  <a16:creationId xmlns:a16="http://schemas.microsoft.com/office/drawing/2014/main" id="{95802991-D246-6DB8-E78A-929E677BC902}"/>
                </a:ext>
              </a:extLst>
            </p:cNvPr>
            <p:cNvSpPr/>
            <p:nvPr/>
          </p:nvSpPr>
          <p:spPr>
            <a:xfrm rot="10800000">
              <a:off x="7131002" y="3710447"/>
              <a:ext cx="741334" cy="190397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D747CF1-320C-D541-5AB8-03227D82CDB1}"/>
                </a:ext>
              </a:extLst>
            </p:cNvPr>
            <p:cNvSpPr txBox="1"/>
            <p:nvPr/>
          </p:nvSpPr>
          <p:spPr>
            <a:xfrm>
              <a:off x="7104960" y="3692249"/>
              <a:ext cx="823139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>
                  <a:latin typeface="+mn-ea"/>
                </a:rPr>
                <a:t>MUX</a:t>
              </a:r>
            </a:p>
          </p:txBody>
        </p:sp>
      </p:grp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E4BEBD5-6586-FEA6-1C16-C365138589BC}"/>
              </a:ext>
            </a:extLst>
          </p:cNvPr>
          <p:cNvCxnSpPr>
            <a:cxnSpLocks/>
          </p:cNvCxnSpPr>
          <p:nvPr/>
        </p:nvCxnSpPr>
        <p:spPr>
          <a:xfrm flipV="1">
            <a:off x="6913843" y="3375885"/>
            <a:ext cx="0" cy="21002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18551BA-3B3D-D302-6072-C63DABD74FCA}"/>
              </a:ext>
            </a:extLst>
          </p:cNvPr>
          <p:cNvCxnSpPr>
            <a:cxnSpLocks/>
          </p:cNvCxnSpPr>
          <p:nvPr/>
        </p:nvCxnSpPr>
        <p:spPr>
          <a:xfrm flipV="1">
            <a:off x="7218643" y="3359929"/>
            <a:ext cx="0" cy="23266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C99AAC1-E915-D204-F92D-C455892FF908}"/>
              </a:ext>
            </a:extLst>
          </p:cNvPr>
          <p:cNvCxnSpPr>
            <a:cxnSpLocks/>
          </p:cNvCxnSpPr>
          <p:nvPr/>
        </p:nvCxnSpPr>
        <p:spPr>
          <a:xfrm>
            <a:off x="6589553" y="3584451"/>
            <a:ext cx="32429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CF7BEB7-EB6A-B0D1-ABFE-6862958051C0}"/>
              </a:ext>
            </a:extLst>
          </p:cNvPr>
          <p:cNvSpPr txBox="1"/>
          <p:nvPr/>
        </p:nvSpPr>
        <p:spPr>
          <a:xfrm>
            <a:off x="7035928" y="3566144"/>
            <a:ext cx="993702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0x4000</a:t>
            </a:r>
          </a:p>
          <a:p>
            <a:r>
              <a:rPr lang="en-US" altLang="ko-KR" sz="1000" b="1" dirty="0">
                <a:latin typeface="+mn-ea"/>
              </a:rPr>
              <a:t>= 1.0000(Q2.14)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A0FA8D7D-FCC0-CA16-E475-C7C9BD44872F}"/>
              </a:ext>
            </a:extLst>
          </p:cNvPr>
          <p:cNvCxnSpPr>
            <a:cxnSpLocks/>
          </p:cNvCxnSpPr>
          <p:nvPr/>
        </p:nvCxnSpPr>
        <p:spPr>
          <a:xfrm>
            <a:off x="7343434" y="3258256"/>
            <a:ext cx="145482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ADFC989-D9B8-ECEC-9372-C28F1CF3B41D}"/>
              </a:ext>
            </a:extLst>
          </p:cNvPr>
          <p:cNvSpPr txBox="1"/>
          <p:nvPr/>
        </p:nvSpPr>
        <p:spPr>
          <a:xfrm>
            <a:off x="7426722" y="3131417"/>
            <a:ext cx="63881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GCF_EN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1341982-C61D-D8D4-5A1E-F8B3AD7D4B42}"/>
              </a:ext>
            </a:extLst>
          </p:cNvPr>
          <p:cNvGrpSpPr/>
          <p:nvPr/>
        </p:nvGrpSpPr>
        <p:grpSpPr>
          <a:xfrm>
            <a:off x="8519204" y="3132469"/>
            <a:ext cx="823139" cy="246221"/>
            <a:chOff x="7104960" y="3692249"/>
            <a:chExt cx="823139" cy="246221"/>
          </a:xfrm>
        </p:grpSpPr>
        <p:sp>
          <p:nvSpPr>
            <p:cNvPr id="27" name="순서도: 수동 연산 26">
              <a:extLst>
                <a:ext uri="{FF2B5EF4-FFF2-40B4-BE49-F238E27FC236}">
                  <a16:creationId xmlns:a16="http://schemas.microsoft.com/office/drawing/2014/main" id="{B8A8171A-04F0-9385-CEB5-0C8CD0F96DF4}"/>
                </a:ext>
              </a:extLst>
            </p:cNvPr>
            <p:cNvSpPr/>
            <p:nvPr/>
          </p:nvSpPr>
          <p:spPr>
            <a:xfrm rot="10800000">
              <a:off x="7131002" y="3710447"/>
              <a:ext cx="741334" cy="190397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5CD4280-7F37-3BDE-E177-DA1E21E39834}"/>
                </a:ext>
              </a:extLst>
            </p:cNvPr>
            <p:cNvSpPr txBox="1"/>
            <p:nvPr/>
          </p:nvSpPr>
          <p:spPr>
            <a:xfrm>
              <a:off x="7104960" y="3692249"/>
              <a:ext cx="823139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>
                  <a:latin typeface="+mn-ea"/>
                </a:rPr>
                <a:t>MUX</a:t>
              </a:r>
            </a:p>
          </p:txBody>
        </p:sp>
      </p:grp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1B00B99-43DE-3A2E-363A-482095662A86}"/>
              </a:ext>
            </a:extLst>
          </p:cNvPr>
          <p:cNvCxnSpPr>
            <a:cxnSpLocks/>
          </p:cNvCxnSpPr>
          <p:nvPr/>
        </p:nvCxnSpPr>
        <p:spPr>
          <a:xfrm flipV="1">
            <a:off x="8776795" y="3350404"/>
            <a:ext cx="0" cy="163149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E6A466BB-11BD-80F7-1059-1A531FE4DA02}"/>
              </a:ext>
            </a:extLst>
          </p:cNvPr>
          <p:cNvCxnSpPr>
            <a:cxnSpLocks/>
          </p:cNvCxnSpPr>
          <p:nvPr/>
        </p:nvCxnSpPr>
        <p:spPr>
          <a:xfrm flipV="1">
            <a:off x="9072070" y="3341064"/>
            <a:ext cx="0" cy="22508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F0CCB08-7190-3329-C799-9CC56C2ABD9A}"/>
              </a:ext>
            </a:extLst>
          </p:cNvPr>
          <p:cNvSpPr txBox="1"/>
          <p:nvPr/>
        </p:nvSpPr>
        <p:spPr>
          <a:xfrm>
            <a:off x="8908056" y="3537754"/>
            <a:ext cx="993702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0x4000</a:t>
            </a:r>
          </a:p>
          <a:p>
            <a:r>
              <a:rPr lang="en-US" altLang="ko-KR" sz="1000" b="1" dirty="0">
                <a:latin typeface="+mn-ea"/>
              </a:rPr>
              <a:t>= 1.0000(Q2.14)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384CC702-A50A-350A-13DC-C066E62AEB85}"/>
              </a:ext>
            </a:extLst>
          </p:cNvPr>
          <p:cNvCxnSpPr>
            <a:cxnSpLocks/>
          </p:cNvCxnSpPr>
          <p:nvPr/>
        </p:nvCxnSpPr>
        <p:spPr>
          <a:xfrm>
            <a:off x="9205132" y="3235656"/>
            <a:ext cx="13721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0CD55B1-F4C1-8E41-64CB-B41A1C4BFCBD}"/>
              </a:ext>
            </a:extLst>
          </p:cNvPr>
          <p:cNvSpPr txBox="1"/>
          <p:nvPr/>
        </p:nvSpPr>
        <p:spPr>
          <a:xfrm>
            <a:off x="9296157" y="3110819"/>
            <a:ext cx="599052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TCF_EN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6FBA7B71-568D-B095-1BD5-01F8CB9DEF19}"/>
              </a:ext>
            </a:extLst>
          </p:cNvPr>
          <p:cNvCxnSpPr>
            <a:cxnSpLocks/>
          </p:cNvCxnSpPr>
          <p:nvPr/>
        </p:nvCxnSpPr>
        <p:spPr>
          <a:xfrm>
            <a:off x="6153187" y="1203582"/>
            <a:ext cx="45186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타원 43">
            <a:extLst>
              <a:ext uri="{FF2B5EF4-FFF2-40B4-BE49-F238E27FC236}">
                <a16:creationId xmlns:a16="http://schemas.microsoft.com/office/drawing/2014/main" id="{EA9F8A5D-3F64-C7C8-5CFD-0D25EB246BF7}"/>
              </a:ext>
            </a:extLst>
          </p:cNvPr>
          <p:cNvSpPr/>
          <p:nvPr/>
        </p:nvSpPr>
        <p:spPr>
          <a:xfrm>
            <a:off x="7963866" y="1161846"/>
            <a:ext cx="78365" cy="783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4E8F1FED-E422-B011-1458-185D08D8275D}"/>
              </a:ext>
            </a:extLst>
          </p:cNvPr>
          <p:cNvCxnSpPr>
            <a:cxnSpLocks/>
          </p:cNvCxnSpPr>
          <p:nvPr/>
        </p:nvCxnSpPr>
        <p:spPr>
          <a:xfrm>
            <a:off x="5984603" y="1032207"/>
            <a:ext cx="46872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6293013-E199-6922-5203-338808EFDE75}"/>
              </a:ext>
            </a:extLst>
          </p:cNvPr>
          <p:cNvSpPr txBox="1"/>
          <p:nvPr/>
        </p:nvSpPr>
        <p:spPr>
          <a:xfrm>
            <a:off x="10671835" y="906587"/>
            <a:ext cx="1284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RXD_A[15:0]</a:t>
            </a:r>
          </a:p>
          <a:p>
            <a:r>
              <a:rPr lang="en-US" altLang="ko-KR" sz="1000" b="1" dirty="0">
                <a:latin typeface="+mn-ea"/>
              </a:rPr>
              <a:t>RXD_B[15:0]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AA3E960-6CB6-ABC0-7A5F-4265235D8239}"/>
              </a:ext>
            </a:extLst>
          </p:cNvPr>
          <p:cNvSpPr/>
          <p:nvPr/>
        </p:nvSpPr>
        <p:spPr>
          <a:xfrm>
            <a:off x="5188211" y="1593614"/>
            <a:ext cx="582568" cy="12253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Neg.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cancel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&amp;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Pos.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range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shift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7C9AF0CE-CDB5-25DF-AC09-7A7B5B96E84C}"/>
              </a:ext>
            </a:extLst>
          </p:cNvPr>
          <p:cNvCxnSpPr>
            <a:cxnSpLocks/>
          </p:cNvCxnSpPr>
          <p:nvPr/>
        </p:nvCxnSpPr>
        <p:spPr>
          <a:xfrm flipV="1">
            <a:off x="5456258" y="2817074"/>
            <a:ext cx="0" cy="2109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6251969-8092-9627-4DA0-EF8E549BFF86}"/>
              </a:ext>
            </a:extLst>
          </p:cNvPr>
          <p:cNvSpPr txBox="1"/>
          <p:nvPr/>
        </p:nvSpPr>
        <p:spPr>
          <a:xfrm>
            <a:off x="5232714" y="2976588"/>
            <a:ext cx="44809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EN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C86DAE5-582D-8B75-AACD-983D8293BAFB}"/>
              </a:ext>
            </a:extLst>
          </p:cNvPr>
          <p:cNvCxnSpPr>
            <a:cxnSpLocks/>
          </p:cNvCxnSpPr>
          <p:nvPr/>
        </p:nvCxnSpPr>
        <p:spPr>
          <a:xfrm flipV="1">
            <a:off x="4631208" y="2812337"/>
            <a:ext cx="0" cy="2109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9AB5441-72B3-81C3-B4C9-0F2C03F981E7}"/>
              </a:ext>
            </a:extLst>
          </p:cNvPr>
          <p:cNvSpPr txBox="1"/>
          <p:nvPr/>
        </p:nvSpPr>
        <p:spPr>
          <a:xfrm>
            <a:off x="4407664" y="2971851"/>
            <a:ext cx="44809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EN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91717D-D55E-1E94-B5B6-CC44A99CB658}"/>
              </a:ext>
            </a:extLst>
          </p:cNvPr>
          <p:cNvSpPr txBox="1"/>
          <p:nvPr/>
        </p:nvSpPr>
        <p:spPr>
          <a:xfrm>
            <a:off x="1552617" y="1345008"/>
            <a:ext cx="16877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output : offset binary</a:t>
            </a: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2A1646DB-B678-DD95-4B06-3398298DBE65}"/>
              </a:ext>
            </a:extLst>
          </p:cNvPr>
          <p:cNvCxnSpPr>
            <a:cxnSpLocks/>
          </p:cNvCxnSpPr>
          <p:nvPr/>
        </p:nvCxnSpPr>
        <p:spPr>
          <a:xfrm>
            <a:off x="2440266" y="1815861"/>
            <a:ext cx="27488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F09F98B0-D0CB-536B-FFC3-B692D24C7C45}"/>
              </a:ext>
            </a:extLst>
          </p:cNvPr>
          <p:cNvCxnSpPr>
            <a:cxnSpLocks/>
          </p:cNvCxnSpPr>
          <p:nvPr/>
        </p:nvCxnSpPr>
        <p:spPr>
          <a:xfrm>
            <a:off x="2440266" y="2635507"/>
            <a:ext cx="27488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6DCABA96-8E82-C825-30E8-C4549CA79DBC}"/>
              </a:ext>
            </a:extLst>
          </p:cNvPr>
          <p:cNvSpPr txBox="1"/>
          <p:nvPr/>
        </p:nvSpPr>
        <p:spPr>
          <a:xfrm>
            <a:off x="7267142" y="3962251"/>
            <a:ext cx="108234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ADC_MIXER</a:t>
            </a:r>
          </a:p>
        </p:txBody>
      </p:sp>
      <p:sp>
        <p:nvSpPr>
          <p:cNvPr id="464" name="직사각형 463">
            <a:extLst>
              <a:ext uri="{FF2B5EF4-FFF2-40B4-BE49-F238E27FC236}">
                <a16:creationId xmlns:a16="http://schemas.microsoft.com/office/drawing/2014/main" id="{9758C662-49B5-13A1-6B2B-790F067746E7}"/>
              </a:ext>
            </a:extLst>
          </p:cNvPr>
          <p:cNvSpPr/>
          <p:nvPr/>
        </p:nvSpPr>
        <p:spPr>
          <a:xfrm>
            <a:off x="3506340" y="1593614"/>
            <a:ext cx="636706" cy="12253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Baseline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Wander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Tracking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&amp;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Corrector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02C143-098F-3610-415D-F88388E983A2}"/>
              </a:ext>
            </a:extLst>
          </p:cNvPr>
          <p:cNvSpPr/>
          <p:nvPr/>
        </p:nvSpPr>
        <p:spPr>
          <a:xfrm>
            <a:off x="2704380" y="1584910"/>
            <a:ext cx="545679" cy="12253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ADC_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RXD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70DD40F-8A42-9BA3-4A38-F288606D2288}"/>
              </a:ext>
            </a:extLst>
          </p:cNvPr>
          <p:cNvSpPr/>
          <p:nvPr/>
        </p:nvSpPr>
        <p:spPr>
          <a:xfrm>
            <a:off x="4378617" y="1593614"/>
            <a:ext cx="537123" cy="12253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DC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Offset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Correct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F15DFFB0-9822-C774-E215-3583E5D617E7}"/>
              </a:ext>
            </a:extLst>
          </p:cNvPr>
          <p:cNvSpPr txBox="1"/>
          <p:nvPr/>
        </p:nvSpPr>
        <p:spPr>
          <a:xfrm>
            <a:off x="6162087" y="2417565"/>
            <a:ext cx="58256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RXD_A</a:t>
            </a:r>
          </a:p>
        </p:txBody>
      </p:sp>
    </p:spTree>
    <p:extLst>
      <p:ext uri="{BB962C8B-B14F-4D97-AF65-F5344CB8AC3E}">
        <p14:creationId xmlns:p14="http://schemas.microsoft.com/office/powerpoint/2010/main" val="1544373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제목 1">
            <a:extLst>
              <a:ext uri="{FF2B5EF4-FFF2-40B4-BE49-F238E27FC236}">
                <a16:creationId xmlns:a16="http://schemas.microsoft.com/office/drawing/2014/main" id="{3CBCF527-18F6-8208-13D2-AC6D6A8AE3EF}"/>
              </a:ext>
            </a:extLst>
          </p:cNvPr>
          <p:cNvSpPr txBox="1">
            <a:spLocks/>
          </p:cNvSpPr>
          <p:nvPr/>
        </p:nvSpPr>
        <p:spPr>
          <a:xfrm>
            <a:off x="147725" y="13673"/>
            <a:ext cx="11815439" cy="515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FPGA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Block Diagram                                                                     3 / 3</a:t>
            </a:r>
            <a:endParaRPr lang="ko-KR" altLang="en-US" sz="2400" dirty="0">
              <a:solidFill>
                <a:schemeClr val="bg1">
                  <a:lumMod val="9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268D8E-A04C-2A6A-157A-FD2BCC78CDA1}"/>
              </a:ext>
            </a:extLst>
          </p:cNvPr>
          <p:cNvSpPr txBox="1"/>
          <p:nvPr/>
        </p:nvSpPr>
        <p:spPr>
          <a:xfrm>
            <a:off x="421188" y="563688"/>
            <a:ext cx="892492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 dirty="0">
                <a:latin typeface="+mn-ea"/>
              </a:rPr>
              <a:t>Baseline wander tracking &amp; rejection basic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idea</a:t>
            </a:r>
          </a:p>
          <a:p>
            <a:pPr algn="l"/>
            <a:r>
              <a:rPr lang="en-US" altLang="ko-KR" sz="1600" b="1" dirty="0">
                <a:latin typeface="+mn-ea"/>
              </a:rPr>
              <a:t>  - 2 methods considered, choose method 2 </a:t>
            </a:r>
          </a:p>
          <a:p>
            <a:pPr algn="l"/>
            <a:r>
              <a:rPr lang="en-US" altLang="ko-KR" sz="1600" b="1" dirty="0">
                <a:latin typeface="+mn-ea"/>
              </a:rPr>
              <a:t>  - LPF(Low Pass Filter) : implemented using FIR(Finite Impulse Response) Filter 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7C060E44-8EF0-04C6-04BA-26A247C050F7}"/>
              </a:ext>
            </a:extLst>
          </p:cNvPr>
          <p:cNvCxnSpPr>
            <a:cxnSpLocks/>
          </p:cNvCxnSpPr>
          <p:nvPr/>
        </p:nvCxnSpPr>
        <p:spPr>
          <a:xfrm>
            <a:off x="2120898" y="3181349"/>
            <a:ext cx="30230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FB19147-AF3C-D7B1-DD93-EFF1BF09A4AF}"/>
              </a:ext>
            </a:extLst>
          </p:cNvPr>
          <p:cNvSpPr/>
          <p:nvPr/>
        </p:nvSpPr>
        <p:spPr>
          <a:xfrm>
            <a:off x="2767253" y="2936606"/>
            <a:ext cx="1132335" cy="4757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HPF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(High Pass Filter)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7056908-3A07-11C4-6654-E0DF48F106BD}"/>
              </a:ext>
            </a:extLst>
          </p:cNvPr>
          <p:cNvSpPr/>
          <p:nvPr/>
        </p:nvSpPr>
        <p:spPr>
          <a:xfrm>
            <a:off x="6758227" y="2022615"/>
            <a:ext cx="1132335" cy="4757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Delay</a:t>
            </a:r>
          </a:p>
        </p:txBody>
      </p:sp>
      <p:grpSp>
        <p:nvGrpSpPr>
          <p:cNvPr id="463" name="그룹 462">
            <a:extLst>
              <a:ext uri="{FF2B5EF4-FFF2-40B4-BE49-F238E27FC236}">
                <a16:creationId xmlns:a16="http://schemas.microsoft.com/office/drawing/2014/main" id="{B5517103-36CA-F534-297D-338E3CB1CBFC}"/>
              </a:ext>
            </a:extLst>
          </p:cNvPr>
          <p:cNvGrpSpPr/>
          <p:nvPr/>
        </p:nvGrpSpPr>
        <p:grpSpPr>
          <a:xfrm>
            <a:off x="5092449" y="2928283"/>
            <a:ext cx="499217" cy="484120"/>
            <a:chOff x="5463924" y="3156883"/>
            <a:chExt cx="499217" cy="484120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214E151-7EA3-B575-B670-6725D214D1DB}"/>
                </a:ext>
              </a:extLst>
            </p:cNvPr>
            <p:cNvSpPr txBox="1"/>
            <p:nvPr/>
          </p:nvSpPr>
          <p:spPr>
            <a:xfrm>
              <a:off x="5608104" y="3156883"/>
              <a:ext cx="269311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>
                  <a:latin typeface="+mn-ea"/>
                </a:rPr>
                <a:t>+</a:t>
              </a:r>
            </a:p>
          </p:txBody>
        </p:sp>
        <p:sp>
          <p:nvSpPr>
            <p:cNvPr id="36" name="순서도: 가산 접합 35">
              <a:extLst>
                <a:ext uri="{FF2B5EF4-FFF2-40B4-BE49-F238E27FC236}">
                  <a16:creationId xmlns:a16="http://schemas.microsoft.com/office/drawing/2014/main" id="{E4B91542-BFC3-6188-6F49-AA422745482B}"/>
                </a:ext>
              </a:extLst>
            </p:cNvPr>
            <p:cNvSpPr/>
            <p:nvPr/>
          </p:nvSpPr>
          <p:spPr>
            <a:xfrm>
              <a:off x="5515466" y="3193328"/>
              <a:ext cx="447675" cy="447675"/>
            </a:xfrm>
            <a:prstGeom prst="flowChartSummingJunction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2411367-6904-3A27-DF09-22249C616611}"/>
                </a:ext>
              </a:extLst>
            </p:cNvPr>
            <p:cNvSpPr txBox="1"/>
            <p:nvPr/>
          </p:nvSpPr>
          <p:spPr>
            <a:xfrm>
              <a:off x="5463924" y="3286839"/>
              <a:ext cx="269311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>
                  <a:latin typeface="+mn-ea"/>
                </a:rPr>
                <a:t>-</a:t>
              </a:r>
            </a:p>
          </p:txBody>
        </p:sp>
      </p:grp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76EFA48D-0FC5-0190-FD79-E9CE001AB10B}"/>
              </a:ext>
            </a:extLst>
          </p:cNvPr>
          <p:cNvCxnSpPr>
            <a:cxnSpLocks/>
          </p:cNvCxnSpPr>
          <p:nvPr/>
        </p:nvCxnSpPr>
        <p:spPr>
          <a:xfrm>
            <a:off x="5591666" y="3188565"/>
            <a:ext cx="351936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D443B31-A9A0-B7AA-ADFF-C310F040970B}"/>
              </a:ext>
            </a:extLst>
          </p:cNvPr>
          <p:cNvSpPr/>
          <p:nvPr/>
        </p:nvSpPr>
        <p:spPr>
          <a:xfrm>
            <a:off x="6758228" y="2936606"/>
            <a:ext cx="1132335" cy="4757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Moving Average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Filter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BA17B0BE-86B0-892E-C21C-02527239948B}"/>
              </a:ext>
            </a:extLst>
          </p:cNvPr>
          <p:cNvCxnSpPr>
            <a:cxnSpLocks/>
          </p:cNvCxnSpPr>
          <p:nvPr/>
        </p:nvCxnSpPr>
        <p:spPr>
          <a:xfrm>
            <a:off x="5361760" y="2251835"/>
            <a:ext cx="0" cy="6847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3C9408C0-8D87-D7DD-29E2-B8E5879D2BD6}"/>
              </a:ext>
            </a:extLst>
          </p:cNvPr>
          <p:cNvCxnSpPr>
            <a:cxnSpLocks/>
          </p:cNvCxnSpPr>
          <p:nvPr/>
        </p:nvCxnSpPr>
        <p:spPr>
          <a:xfrm>
            <a:off x="2442670" y="2251835"/>
            <a:ext cx="330961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D2D0597-70CD-EF04-D894-036CBC051174}"/>
              </a:ext>
            </a:extLst>
          </p:cNvPr>
          <p:cNvSpPr/>
          <p:nvPr/>
        </p:nvSpPr>
        <p:spPr>
          <a:xfrm>
            <a:off x="2767252" y="2022615"/>
            <a:ext cx="1132335" cy="4757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Delay</a:t>
            </a: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6BBAA8B8-9545-2782-F196-A45386A62D18}"/>
              </a:ext>
            </a:extLst>
          </p:cNvPr>
          <p:cNvCxnSpPr>
            <a:cxnSpLocks/>
          </p:cNvCxnSpPr>
          <p:nvPr/>
        </p:nvCxnSpPr>
        <p:spPr>
          <a:xfrm flipV="1">
            <a:off x="2442670" y="2242490"/>
            <a:ext cx="0" cy="94607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그림 60">
            <a:extLst>
              <a:ext uri="{FF2B5EF4-FFF2-40B4-BE49-F238E27FC236}">
                <a16:creationId xmlns:a16="http://schemas.microsoft.com/office/drawing/2014/main" id="{3E62FEA6-A4E0-E1B7-0316-3CA86871C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60" y="2824150"/>
            <a:ext cx="1648778" cy="488633"/>
          </a:xfrm>
          <a:prstGeom prst="rect">
            <a:avLst/>
          </a:prstGeom>
        </p:spPr>
      </p:pic>
      <p:pic>
        <p:nvPicPr>
          <p:cNvPr id="448" name="그림 447">
            <a:extLst>
              <a:ext uri="{FF2B5EF4-FFF2-40B4-BE49-F238E27FC236}">
                <a16:creationId xmlns:a16="http://schemas.microsoft.com/office/drawing/2014/main" id="{9D346B00-E891-2234-8887-938FC1F3C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2862" y="3477339"/>
            <a:ext cx="1640205" cy="388620"/>
          </a:xfrm>
          <a:prstGeom prst="rect">
            <a:avLst/>
          </a:prstGeom>
        </p:spPr>
      </p:pic>
      <p:pic>
        <p:nvPicPr>
          <p:cNvPr id="450" name="그림 449">
            <a:extLst>
              <a:ext uri="{FF2B5EF4-FFF2-40B4-BE49-F238E27FC236}">
                <a16:creationId xmlns:a16="http://schemas.microsoft.com/office/drawing/2014/main" id="{73BEE99B-F44F-F566-5557-0F845547F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042" y="3470207"/>
            <a:ext cx="1617345" cy="360045"/>
          </a:xfrm>
          <a:prstGeom prst="rect">
            <a:avLst/>
          </a:prstGeom>
        </p:spPr>
      </p:pic>
      <p:pic>
        <p:nvPicPr>
          <p:cNvPr id="452" name="그림 451">
            <a:extLst>
              <a:ext uri="{FF2B5EF4-FFF2-40B4-BE49-F238E27FC236}">
                <a16:creationId xmlns:a16="http://schemas.microsoft.com/office/drawing/2014/main" id="{B2387DCB-2322-F06C-5146-FAFD32F2FB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8072" y="3477827"/>
            <a:ext cx="1640205" cy="457200"/>
          </a:xfrm>
          <a:prstGeom prst="rect">
            <a:avLst/>
          </a:prstGeom>
        </p:spPr>
      </p:pic>
      <p:cxnSp>
        <p:nvCxnSpPr>
          <p:cNvPr id="458" name="직선 화살표 연결선 457">
            <a:extLst>
              <a:ext uri="{FF2B5EF4-FFF2-40B4-BE49-F238E27FC236}">
                <a16:creationId xmlns:a16="http://schemas.microsoft.com/office/drawing/2014/main" id="{7441B436-694A-C49A-5532-7886A9913D8B}"/>
              </a:ext>
            </a:extLst>
          </p:cNvPr>
          <p:cNvCxnSpPr>
            <a:cxnSpLocks/>
          </p:cNvCxnSpPr>
          <p:nvPr/>
        </p:nvCxnSpPr>
        <p:spPr>
          <a:xfrm>
            <a:off x="5236629" y="2250988"/>
            <a:ext cx="15215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5" name="그룹 464">
            <a:extLst>
              <a:ext uri="{FF2B5EF4-FFF2-40B4-BE49-F238E27FC236}">
                <a16:creationId xmlns:a16="http://schemas.microsoft.com/office/drawing/2014/main" id="{A7EF142F-8665-E2BD-5B81-31B355D4452B}"/>
              </a:ext>
            </a:extLst>
          </p:cNvPr>
          <p:cNvGrpSpPr/>
          <p:nvPr/>
        </p:nvGrpSpPr>
        <p:grpSpPr>
          <a:xfrm>
            <a:off x="9077733" y="2936606"/>
            <a:ext cx="499217" cy="484120"/>
            <a:chOff x="5463924" y="3156883"/>
            <a:chExt cx="499217" cy="484120"/>
          </a:xfrm>
        </p:grpSpPr>
        <p:sp>
          <p:nvSpPr>
            <p:cNvPr id="466" name="TextBox 465">
              <a:extLst>
                <a:ext uri="{FF2B5EF4-FFF2-40B4-BE49-F238E27FC236}">
                  <a16:creationId xmlns:a16="http://schemas.microsoft.com/office/drawing/2014/main" id="{29A4A965-19BA-3DEF-9176-1882E9391E3B}"/>
                </a:ext>
              </a:extLst>
            </p:cNvPr>
            <p:cNvSpPr txBox="1"/>
            <p:nvPr/>
          </p:nvSpPr>
          <p:spPr>
            <a:xfrm>
              <a:off x="5608104" y="3156883"/>
              <a:ext cx="269311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>
                  <a:latin typeface="+mn-ea"/>
                </a:rPr>
                <a:t>+</a:t>
              </a:r>
            </a:p>
          </p:txBody>
        </p:sp>
        <p:sp>
          <p:nvSpPr>
            <p:cNvPr id="468" name="순서도: 가산 접합 467">
              <a:extLst>
                <a:ext uri="{FF2B5EF4-FFF2-40B4-BE49-F238E27FC236}">
                  <a16:creationId xmlns:a16="http://schemas.microsoft.com/office/drawing/2014/main" id="{F7271C0F-197B-3D31-BC6A-B9C1EA942C1B}"/>
                </a:ext>
              </a:extLst>
            </p:cNvPr>
            <p:cNvSpPr/>
            <p:nvPr/>
          </p:nvSpPr>
          <p:spPr>
            <a:xfrm>
              <a:off x="5515466" y="3193328"/>
              <a:ext cx="447675" cy="447675"/>
            </a:xfrm>
            <a:prstGeom prst="flowChartSummingJunction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9" name="TextBox 468">
              <a:extLst>
                <a:ext uri="{FF2B5EF4-FFF2-40B4-BE49-F238E27FC236}">
                  <a16:creationId xmlns:a16="http://schemas.microsoft.com/office/drawing/2014/main" id="{88DC0CD8-4D46-D692-66B0-36922689692B}"/>
                </a:ext>
              </a:extLst>
            </p:cNvPr>
            <p:cNvSpPr txBox="1"/>
            <p:nvPr/>
          </p:nvSpPr>
          <p:spPr>
            <a:xfrm>
              <a:off x="5463924" y="3286839"/>
              <a:ext cx="269311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>
                  <a:latin typeface="+mn-ea"/>
                </a:rPr>
                <a:t>-</a:t>
              </a:r>
            </a:p>
          </p:txBody>
        </p:sp>
      </p:grpSp>
      <p:cxnSp>
        <p:nvCxnSpPr>
          <p:cNvPr id="470" name="직선 화살표 연결선 469">
            <a:extLst>
              <a:ext uri="{FF2B5EF4-FFF2-40B4-BE49-F238E27FC236}">
                <a16:creationId xmlns:a16="http://schemas.microsoft.com/office/drawing/2014/main" id="{2E9BCD95-DCFC-430D-80A3-2679CE5818EA}"/>
              </a:ext>
            </a:extLst>
          </p:cNvPr>
          <p:cNvCxnSpPr>
            <a:cxnSpLocks/>
          </p:cNvCxnSpPr>
          <p:nvPr/>
        </p:nvCxnSpPr>
        <p:spPr>
          <a:xfrm>
            <a:off x="9347044" y="2260158"/>
            <a:ext cx="0" cy="6847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직선 화살표 연결선 470">
            <a:extLst>
              <a:ext uri="{FF2B5EF4-FFF2-40B4-BE49-F238E27FC236}">
                <a16:creationId xmlns:a16="http://schemas.microsoft.com/office/drawing/2014/main" id="{D556F598-690E-EEBF-D241-2C4E406214AC}"/>
              </a:ext>
            </a:extLst>
          </p:cNvPr>
          <p:cNvCxnSpPr>
            <a:cxnSpLocks/>
          </p:cNvCxnSpPr>
          <p:nvPr/>
        </p:nvCxnSpPr>
        <p:spPr>
          <a:xfrm>
            <a:off x="7890562" y="2250988"/>
            <a:ext cx="1456482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F7F874C-1F0B-4786-59B5-A921624B0906}"/>
              </a:ext>
            </a:extLst>
          </p:cNvPr>
          <p:cNvCxnSpPr>
            <a:cxnSpLocks/>
          </p:cNvCxnSpPr>
          <p:nvPr/>
        </p:nvCxnSpPr>
        <p:spPr>
          <a:xfrm>
            <a:off x="9576950" y="3196888"/>
            <a:ext cx="6052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BC6F14DD-7BA0-EC24-F1CD-22119320C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5641" y="2903589"/>
            <a:ext cx="1640205" cy="388620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8841EF3-C793-5C92-171C-2BC324FF3E40}"/>
              </a:ext>
            </a:extLst>
          </p:cNvPr>
          <p:cNvCxnSpPr>
            <a:cxnSpLocks/>
          </p:cNvCxnSpPr>
          <p:nvPr/>
        </p:nvCxnSpPr>
        <p:spPr>
          <a:xfrm>
            <a:off x="2134473" y="5669680"/>
            <a:ext cx="30230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8EA039E-4006-C849-A6FA-DDAEA889AB70}"/>
              </a:ext>
            </a:extLst>
          </p:cNvPr>
          <p:cNvSpPr/>
          <p:nvPr/>
        </p:nvSpPr>
        <p:spPr>
          <a:xfrm>
            <a:off x="2780828" y="5415412"/>
            <a:ext cx="1132335" cy="4757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LPF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(Low Pass Filter)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114E7EB-6EE2-3EB1-CAB1-725D0A179507}"/>
              </a:ext>
            </a:extLst>
          </p:cNvPr>
          <p:cNvGrpSpPr/>
          <p:nvPr/>
        </p:nvGrpSpPr>
        <p:grpSpPr>
          <a:xfrm>
            <a:off x="5106024" y="5407089"/>
            <a:ext cx="499217" cy="484120"/>
            <a:chOff x="5463924" y="3156883"/>
            <a:chExt cx="499217" cy="48412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C522981-8500-509E-A375-CAC52BA23EA9}"/>
                </a:ext>
              </a:extLst>
            </p:cNvPr>
            <p:cNvSpPr txBox="1"/>
            <p:nvPr/>
          </p:nvSpPr>
          <p:spPr>
            <a:xfrm>
              <a:off x="5608104" y="3156883"/>
              <a:ext cx="269311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>
                  <a:latin typeface="+mn-ea"/>
                </a:rPr>
                <a:t>+</a:t>
              </a:r>
            </a:p>
          </p:txBody>
        </p:sp>
        <p:sp>
          <p:nvSpPr>
            <p:cNvPr id="18" name="순서도: 가산 접합 17">
              <a:extLst>
                <a:ext uri="{FF2B5EF4-FFF2-40B4-BE49-F238E27FC236}">
                  <a16:creationId xmlns:a16="http://schemas.microsoft.com/office/drawing/2014/main" id="{633299F9-71E4-9BE4-AADE-A394E737CCAC}"/>
                </a:ext>
              </a:extLst>
            </p:cNvPr>
            <p:cNvSpPr/>
            <p:nvPr/>
          </p:nvSpPr>
          <p:spPr>
            <a:xfrm>
              <a:off x="5515466" y="3193328"/>
              <a:ext cx="447675" cy="447675"/>
            </a:xfrm>
            <a:prstGeom prst="flowChartSummingJunction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79A6376-504D-E1E2-8FA3-A1E7081979E1}"/>
                </a:ext>
              </a:extLst>
            </p:cNvPr>
            <p:cNvSpPr txBox="1"/>
            <p:nvPr/>
          </p:nvSpPr>
          <p:spPr>
            <a:xfrm>
              <a:off x="5463924" y="3286839"/>
              <a:ext cx="269311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>
                  <a:latin typeface="+mn-ea"/>
                </a:rPr>
                <a:t>-</a:t>
              </a:r>
            </a:p>
          </p:txBody>
        </p:sp>
      </p:grp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59A064FA-2D64-F412-3CC1-4AE533C70E70}"/>
              </a:ext>
            </a:extLst>
          </p:cNvPr>
          <p:cNvCxnSpPr>
            <a:cxnSpLocks/>
          </p:cNvCxnSpPr>
          <p:nvPr/>
        </p:nvCxnSpPr>
        <p:spPr>
          <a:xfrm>
            <a:off x="5375335" y="4730641"/>
            <a:ext cx="0" cy="6847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15593D6-9D8C-C8CA-C46D-7A10AB056A25}"/>
              </a:ext>
            </a:extLst>
          </p:cNvPr>
          <p:cNvCxnSpPr>
            <a:cxnSpLocks/>
          </p:cNvCxnSpPr>
          <p:nvPr/>
        </p:nvCxnSpPr>
        <p:spPr>
          <a:xfrm>
            <a:off x="2456245" y="4730641"/>
            <a:ext cx="292861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A8349B5-B373-0952-7C83-E295CFAE8B04}"/>
              </a:ext>
            </a:extLst>
          </p:cNvPr>
          <p:cNvSpPr/>
          <p:nvPr/>
        </p:nvSpPr>
        <p:spPr>
          <a:xfrm>
            <a:off x="2780827" y="4501421"/>
            <a:ext cx="1132335" cy="4757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Delay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5C5D70E-B25D-7442-5E48-1F49D585C654}"/>
              </a:ext>
            </a:extLst>
          </p:cNvPr>
          <p:cNvCxnSpPr>
            <a:cxnSpLocks/>
          </p:cNvCxnSpPr>
          <p:nvPr/>
        </p:nvCxnSpPr>
        <p:spPr>
          <a:xfrm flipV="1">
            <a:off x="2456245" y="4721296"/>
            <a:ext cx="0" cy="94607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그림 26">
            <a:extLst>
              <a:ext uri="{FF2B5EF4-FFF2-40B4-BE49-F238E27FC236}">
                <a16:creationId xmlns:a16="http://schemas.microsoft.com/office/drawing/2014/main" id="{CC5C508F-2FDF-B831-3EDF-B002B5073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35" y="5302956"/>
            <a:ext cx="1648778" cy="488633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BF2FBBC7-9C70-8F4D-D203-D7C51F9FE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7121" y="5925266"/>
            <a:ext cx="1617345" cy="360045"/>
          </a:xfrm>
          <a:prstGeom prst="rect">
            <a:avLst/>
          </a:prstGeom>
        </p:spPr>
      </p:pic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FA3C6F34-A45F-F7B8-2D68-CD72D77355F6}"/>
              </a:ext>
            </a:extLst>
          </p:cNvPr>
          <p:cNvCxnSpPr>
            <a:cxnSpLocks/>
          </p:cNvCxnSpPr>
          <p:nvPr/>
        </p:nvCxnSpPr>
        <p:spPr>
          <a:xfrm>
            <a:off x="5612153" y="5653310"/>
            <a:ext cx="6052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그림 31">
            <a:extLst>
              <a:ext uri="{FF2B5EF4-FFF2-40B4-BE49-F238E27FC236}">
                <a16:creationId xmlns:a16="http://schemas.microsoft.com/office/drawing/2014/main" id="{E299FEAD-1319-4975-D8DC-2AD7B20C9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844" y="5127897"/>
            <a:ext cx="1640205" cy="38862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9500D07-543B-86B7-9713-0494EC7E7321}"/>
              </a:ext>
            </a:extLst>
          </p:cNvPr>
          <p:cNvSpPr txBox="1"/>
          <p:nvPr/>
        </p:nvSpPr>
        <p:spPr>
          <a:xfrm>
            <a:off x="237904" y="1706286"/>
            <a:ext cx="46897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b="1" dirty="0"/>
              <a:t>Method 1) using High Pass Filter &amp; Moving Average Filter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A1AED9-66B5-AE75-11A4-8AFECE2AB1F0}"/>
              </a:ext>
            </a:extLst>
          </p:cNvPr>
          <p:cNvSpPr txBox="1"/>
          <p:nvPr/>
        </p:nvSpPr>
        <p:spPr>
          <a:xfrm>
            <a:off x="468560" y="5768858"/>
            <a:ext cx="184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①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input signal</a:t>
            </a:r>
            <a:endParaRPr lang="ko-KR" altLang="en-US" sz="12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A27DC4-C2E7-B365-939C-A9B4AE2A4F6E}"/>
              </a:ext>
            </a:extLst>
          </p:cNvPr>
          <p:cNvSpPr txBox="1"/>
          <p:nvPr/>
        </p:nvSpPr>
        <p:spPr>
          <a:xfrm>
            <a:off x="237905" y="4192442"/>
            <a:ext cx="3194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b="1" dirty="0"/>
              <a:t>Method 2) using Low Pass Filter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E6A18C-4061-17EE-1045-A8D3C9BAEBA5}"/>
              </a:ext>
            </a:extLst>
          </p:cNvPr>
          <p:cNvSpPr txBox="1"/>
          <p:nvPr/>
        </p:nvSpPr>
        <p:spPr>
          <a:xfrm>
            <a:off x="6217428" y="5516517"/>
            <a:ext cx="25169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③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filtered signal = </a:t>
            </a:r>
            <a:r>
              <a:rPr lang="en-US" altLang="ko-KR" sz="12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① - ②</a:t>
            </a:r>
            <a:endParaRPr lang="ko-KR" altLang="en-US" sz="12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54CE8-E9A8-3924-3006-7530888519BC}"/>
              </a:ext>
            </a:extLst>
          </p:cNvPr>
          <p:cNvSpPr txBox="1"/>
          <p:nvPr/>
        </p:nvSpPr>
        <p:spPr>
          <a:xfrm>
            <a:off x="3632444" y="6150312"/>
            <a:ext cx="184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②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  <a:ea typeface="맑은 고딕" panose="020B0503020000020004" pitchFamily="50" charset="-127"/>
              </a:rPr>
              <a:t>Filter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  <a:ea typeface="맑은 고딕" panose="020B0503020000020004" pitchFamily="50" charset="-127"/>
              </a:rPr>
              <a:t>output</a:t>
            </a:r>
            <a:endParaRPr lang="ko-KR" altLang="en-US" sz="12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1E2A2E-0B1F-325F-1CAA-907F4ED9AFE9}"/>
              </a:ext>
            </a:extLst>
          </p:cNvPr>
          <p:cNvSpPr txBox="1"/>
          <p:nvPr/>
        </p:nvSpPr>
        <p:spPr>
          <a:xfrm>
            <a:off x="463083" y="3292209"/>
            <a:ext cx="184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①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input signal</a:t>
            </a:r>
            <a:endParaRPr lang="ko-KR" altLang="en-US" sz="12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1DDD56-8424-528C-08F6-3AA011D4CB6E}"/>
              </a:ext>
            </a:extLst>
          </p:cNvPr>
          <p:cNvSpPr txBox="1"/>
          <p:nvPr/>
        </p:nvSpPr>
        <p:spPr>
          <a:xfrm>
            <a:off x="7811801" y="3683007"/>
            <a:ext cx="184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②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  <a:ea typeface="맑은 고딕" panose="020B0503020000020004" pitchFamily="50" charset="-127"/>
              </a:rPr>
              <a:t>Filter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  <a:ea typeface="맑은 고딕" panose="020B0503020000020004" pitchFamily="50" charset="-127"/>
              </a:rPr>
              <a:t>output</a:t>
            </a:r>
            <a:endParaRPr lang="ko-KR" altLang="en-US" sz="12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99CB53-F3F9-825E-7937-23FE225F8323}"/>
              </a:ext>
            </a:extLst>
          </p:cNvPr>
          <p:cNvSpPr txBox="1"/>
          <p:nvPr/>
        </p:nvSpPr>
        <p:spPr>
          <a:xfrm>
            <a:off x="10086114" y="3312783"/>
            <a:ext cx="21058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③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filtered signal = </a:t>
            </a:r>
            <a:r>
              <a:rPr lang="en-US" altLang="ko-KR" sz="12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① - ②</a:t>
            </a:r>
            <a:endParaRPr lang="ko-KR" altLang="en-US" sz="1200" b="1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17603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제목 1">
            <a:extLst>
              <a:ext uri="{FF2B5EF4-FFF2-40B4-BE49-F238E27FC236}">
                <a16:creationId xmlns:a16="http://schemas.microsoft.com/office/drawing/2014/main" id="{3CBCF527-18F6-8208-13D2-AC6D6A8AE3EF}"/>
              </a:ext>
            </a:extLst>
          </p:cNvPr>
          <p:cNvSpPr txBox="1">
            <a:spLocks/>
          </p:cNvSpPr>
          <p:nvPr/>
        </p:nvSpPr>
        <p:spPr>
          <a:xfrm>
            <a:off x="147725" y="13673"/>
            <a:ext cx="11815439" cy="515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FPGA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Block Diagram                                                                     4 / 3</a:t>
            </a:r>
            <a:endParaRPr lang="ko-KR" altLang="en-US" sz="2400" dirty="0">
              <a:solidFill>
                <a:schemeClr val="bg1">
                  <a:lumMod val="9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C40BE9-537D-6B47-DD99-C4A060A4DEF8}"/>
              </a:ext>
            </a:extLst>
          </p:cNvPr>
          <p:cNvSpPr txBox="1"/>
          <p:nvPr/>
        </p:nvSpPr>
        <p:spPr>
          <a:xfrm>
            <a:off x="421188" y="963537"/>
            <a:ext cx="10656387" cy="1093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altLang="ko-KR" sz="1400" b="1" dirty="0">
                <a:latin typeface="+mn-ea"/>
              </a:rPr>
              <a:t>FIR (Finite Impulse Response) Filter : </a:t>
            </a:r>
            <a:r>
              <a:rPr lang="ko-KR" altLang="en-US" sz="1400" b="1" dirty="0">
                <a:latin typeface="+mn-ea"/>
              </a:rPr>
              <a:t>공식은 아래식과 같으며 구성은 </a:t>
            </a:r>
            <a:r>
              <a:rPr lang="en-US" altLang="ko-KR" sz="1400" b="1" dirty="0">
                <a:latin typeface="+mn-ea"/>
              </a:rPr>
              <a:t>2</a:t>
            </a:r>
            <a:r>
              <a:rPr lang="ko-KR" altLang="en-US" sz="1400" b="1" dirty="0">
                <a:latin typeface="+mn-ea"/>
              </a:rPr>
              <a:t>가지 방법 중 선택하여 구현</a:t>
            </a:r>
            <a:endParaRPr lang="en-US" altLang="ko-KR" sz="1400" b="1" dirty="0">
              <a:latin typeface="+mn-ea"/>
            </a:endParaRPr>
          </a:p>
          <a:p>
            <a:pPr algn="l">
              <a:lnSpc>
                <a:spcPts val="2000"/>
              </a:lnSpc>
            </a:pPr>
            <a:r>
              <a:rPr lang="en-US" altLang="ko-KR" sz="1400" b="1" dirty="0">
                <a:latin typeface="+mn-ea"/>
              </a:rPr>
              <a:t>      Y[n] = C0·X[n] + C1·X[n-1] + C2·X[n-2] + C3·X[n-3] + · · · · · + </a:t>
            </a:r>
            <a:r>
              <a:rPr lang="en-US" altLang="ko-KR" sz="1400" b="1" dirty="0" err="1">
                <a:latin typeface="+mn-ea"/>
              </a:rPr>
              <a:t>Cn·X</a:t>
            </a:r>
            <a:r>
              <a:rPr lang="en-US" altLang="ko-KR" sz="1400" b="1" dirty="0">
                <a:latin typeface="+mn-ea"/>
              </a:rPr>
              <a:t>[n-M] </a:t>
            </a:r>
          </a:p>
          <a:p>
            <a:pPr algn="l">
              <a:lnSpc>
                <a:spcPts val="2000"/>
              </a:lnSpc>
            </a:pPr>
            <a:r>
              <a:rPr lang="en-US" altLang="ko-KR" sz="1400" b="1" dirty="0">
                <a:latin typeface="+mn-ea"/>
              </a:rPr>
              <a:t>      </a:t>
            </a:r>
            <a:r>
              <a:rPr lang="en-US" altLang="ko-KR" sz="1200" b="1" dirty="0">
                <a:latin typeface="+mn-ea"/>
              </a:rPr>
              <a:t>M = number of tap,   Cn = filter coefficient,   X[n] = input,    Y[n] = filtered output</a:t>
            </a:r>
          </a:p>
          <a:p>
            <a:pPr algn="l">
              <a:lnSpc>
                <a:spcPts val="2000"/>
              </a:lnSpc>
            </a:pPr>
            <a:r>
              <a:rPr lang="en-US" altLang="ko-KR" sz="1400" b="1" dirty="0">
                <a:latin typeface="+mn-ea"/>
              </a:rPr>
              <a:t>      </a:t>
            </a:r>
            <a:r>
              <a:rPr lang="en-US" altLang="ko-KR" sz="1200" b="1" dirty="0">
                <a:latin typeface="+mn-ea"/>
              </a:rPr>
              <a:t>filter tap </a:t>
            </a:r>
            <a:r>
              <a:rPr lang="ko-KR" altLang="en-US" sz="1200" b="1" dirty="0">
                <a:latin typeface="+mn-ea"/>
              </a:rPr>
              <a:t>및 </a:t>
            </a:r>
            <a:r>
              <a:rPr lang="en-US" altLang="ko-KR" sz="1200" b="1" dirty="0">
                <a:latin typeface="+mn-ea"/>
              </a:rPr>
              <a:t>filter coefficient </a:t>
            </a:r>
            <a:r>
              <a:rPr lang="ko-KR" altLang="en-US" sz="1200" b="1" dirty="0">
                <a:latin typeface="+mn-ea"/>
              </a:rPr>
              <a:t>는 </a:t>
            </a:r>
            <a:r>
              <a:rPr lang="en-US" altLang="ko-KR" sz="1200" b="1" dirty="0">
                <a:latin typeface="+mn-ea"/>
              </a:rPr>
              <a:t>filter </a:t>
            </a:r>
            <a:r>
              <a:rPr lang="ko-KR" altLang="en-US" sz="1200" b="1" dirty="0">
                <a:latin typeface="+mn-ea"/>
              </a:rPr>
              <a:t>특성 </a:t>
            </a:r>
            <a:r>
              <a:rPr lang="en-US" altLang="ko-KR" sz="1200" b="1" dirty="0">
                <a:latin typeface="+mn-ea"/>
              </a:rPr>
              <a:t>simulation </a:t>
            </a:r>
            <a:r>
              <a:rPr lang="ko-KR" altLang="en-US" sz="1200" b="1" dirty="0">
                <a:latin typeface="+mn-ea"/>
              </a:rPr>
              <a:t>하면서 결정 필요</a:t>
            </a:r>
            <a:r>
              <a:rPr lang="en-US" altLang="ko-KR" sz="1200" b="1" dirty="0">
                <a:latin typeface="+mn-ea"/>
              </a:rPr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C6C7020-311D-8330-98EA-DEBA862F3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556" y="2386124"/>
            <a:ext cx="7095238" cy="17809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5355C9-BF6D-1204-1D81-9EB1EA630AC9}"/>
              </a:ext>
            </a:extLst>
          </p:cNvPr>
          <p:cNvSpPr txBox="1"/>
          <p:nvPr/>
        </p:nvSpPr>
        <p:spPr>
          <a:xfrm>
            <a:off x="8420100" y="2900362"/>
            <a:ext cx="10615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multiplier</a:t>
            </a:r>
            <a:endParaRPr lang="ko-KR" altLang="en-US" sz="1200" b="1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20C4D39F-6C64-AF39-F685-BF2DEBA255E4}"/>
              </a:ext>
            </a:extLst>
          </p:cNvPr>
          <p:cNvCxnSpPr>
            <a:cxnSpLocks/>
          </p:cNvCxnSpPr>
          <p:nvPr/>
        </p:nvCxnSpPr>
        <p:spPr>
          <a:xfrm>
            <a:off x="8121052" y="3060352"/>
            <a:ext cx="441923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65DE7B7-8652-EE94-7003-9A0022712676}"/>
              </a:ext>
            </a:extLst>
          </p:cNvPr>
          <p:cNvCxnSpPr>
            <a:cxnSpLocks/>
          </p:cNvCxnSpPr>
          <p:nvPr/>
        </p:nvCxnSpPr>
        <p:spPr>
          <a:xfrm flipV="1">
            <a:off x="7406677" y="2206870"/>
            <a:ext cx="0" cy="281982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9756D54-D415-C097-54DD-DF4BB653E6EE}"/>
              </a:ext>
            </a:extLst>
          </p:cNvPr>
          <p:cNvSpPr txBox="1"/>
          <p:nvPr/>
        </p:nvSpPr>
        <p:spPr>
          <a:xfrm>
            <a:off x="6574853" y="1977496"/>
            <a:ext cx="184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register(delayed data)</a:t>
            </a:r>
            <a:endParaRPr lang="ko-KR" altLang="en-US" sz="12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5F33D0-9CF4-BA81-7B26-B5967146B343}"/>
              </a:ext>
            </a:extLst>
          </p:cNvPr>
          <p:cNvSpPr txBox="1"/>
          <p:nvPr/>
        </p:nvSpPr>
        <p:spPr>
          <a:xfrm>
            <a:off x="8562975" y="3971426"/>
            <a:ext cx="10615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adder</a:t>
            </a:r>
            <a:endParaRPr lang="ko-KR" altLang="en-US" sz="1200" b="1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40E7C68-C6B6-DFD7-F1CC-09E09547350C}"/>
              </a:ext>
            </a:extLst>
          </p:cNvPr>
          <p:cNvCxnSpPr>
            <a:cxnSpLocks/>
          </p:cNvCxnSpPr>
          <p:nvPr/>
        </p:nvCxnSpPr>
        <p:spPr>
          <a:xfrm>
            <a:off x="8508974" y="3774727"/>
            <a:ext cx="441923" cy="253849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A2FE8B6-A9D8-A9F1-5074-DDB816A1C8A9}"/>
              </a:ext>
            </a:extLst>
          </p:cNvPr>
          <p:cNvSpPr txBox="1"/>
          <p:nvPr/>
        </p:nvSpPr>
        <p:spPr>
          <a:xfrm>
            <a:off x="2043556" y="4074193"/>
            <a:ext cx="7438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- multiplier operates simultaneously</a:t>
            </a:r>
          </a:p>
          <a:p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- addition requires stepped delay, because all additions can not be operated at the same time</a:t>
            </a:r>
            <a:endParaRPr lang="ko-KR" altLang="en-US" sz="12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D63104-249A-D231-BC64-9BD9B62562B4}"/>
              </a:ext>
            </a:extLst>
          </p:cNvPr>
          <p:cNvSpPr txBox="1"/>
          <p:nvPr/>
        </p:nvSpPr>
        <p:spPr>
          <a:xfrm>
            <a:off x="4229247" y="4535858"/>
            <a:ext cx="184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u="sng" dirty="0">
                <a:solidFill>
                  <a:srgbClr val="FF0000"/>
                </a:solidFill>
                <a:latin typeface="+mn-ea"/>
              </a:rPr>
              <a:t>Direct form FIR filter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BFCFAE1C-1F60-E161-22F0-D56E3A723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401" y="4899436"/>
            <a:ext cx="7458075" cy="12858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FF31AB2-0C13-052B-76BB-DE7E75CC2DFD}"/>
              </a:ext>
            </a:extLst>
          </p:cNvPr>
          <p:cNvSpPr txBox="1"/>
          <p:nvPr/>
        </p:nvSpPr>
        <p:spPr>
          <a:xfrm>
            <a:off x="4193750" y="6288458"/>
            <a:ext cx="23144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u="sng" dirty="0">
                <a:solidFill>
                  <a:srgbClr val="FF0000"/>
                </a:solidFill>
                <a:latin typeface="+mn-ea"/>
              </a:rPr>
              <a:t>Transposed form FIR filter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6BA7C1-6FF0-539B-5D78-4B5E0562CD91}"/>
              </a:ext>
            </a:extLst>
          </p:cNvPr>
          <p:cNvSpPr txBox="1"/>
          <p:nvPr/>
        </p:nvSpPr>
        <p:spPr>
          <a:xfrm>
            <a:off x="421188" y="563688"/>
            <a:ext cx="8924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 dirty="0">
                <a:latin typeface="+mn-ea"/>
              </a:rPr>
              <a:t>Baseline wander tracking &amp; rejection detail</a:t>
            </a:r>
          </a:p>
        </p:txBody>
      </p:sp>
    </p:spTree>
    <p:extLst>
      <p:ext uri="{BB962C8B-B14F-4D97-AF65-F5344CB8AC3E}">
        <p14:creationId xmlns:p14="http://schemas.microsoft.com/office/powerpoint/2010/main" val="3574351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그림 39">
            <a:extLst>
              <a:ext uri="{FF2B5EF4-FFF2-40B4-BE49-F238E27FC236}">
                <a16:creationId xmlns:a16="http://schemas.microsoft.com/office/drawing/2014/main" id="{CD856F02-6FA1-3D2F-F42D-B9DBE5C39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875" y="3850535"/>
            <a:ext cx="990600" cy="1352550"/>
          </a:xfrm>
          <a:prstGeom prst="rect">
            <a:avLst/>
          </a:prstGeom>
        </p:spPr>
      </p:pic>
      <p:sp>
        <p:nvSpPr>
          <p:cNvPr id="284" name="제목 1">
            <a:extLst>
              <a:ext uri="{FF2B5EF4-FFF2-40B4-BE49-F238E27FC236}">
                <a16:creationId xmlns:a16="http://schemas.microsoft.com/office/drawing/2014/main" id="{3CBCF527-18F6-8208-13D2-AC6D6A8AE3EF}"/>
              </a:ext>
            </a:extLst>
          </p:cNvPr>
          <p:cNvSpPr txBox="1">
            <a:spLocks/>
          </p:cNvSpPr>
          <p:nvPr/>
        </p:nvSpPr>
        <p:spPr>
          <a:xfrm>
            <a:off x="147725" y="13673"/>
            <a:ext cx="11815439" cy="515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FPGA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Block Diagram                                                                     5 / 3</a:t>
            </a:r>
            <a:endParaRPr lang="ko-KR" altLang="en-US" sz="2400" dirty="0">
              <a:solidFill>
                <a:schemeClr val="bg1">
                  <a:lumMod val="9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C40BE9-537D-6B47-DD99-C4A060A4DEF8}"/>
              </a:ext>
            </a:extLst>
          </p:cNvPr>
          <p:cNvSpPr txBox="1"/>
          <p:nvPr/>
        </p:nvSpPr>
        <p:spPr>
          <a:xfrm>
            <a:off x="421188" y="963537"/>
            <a:ext cx="11065962" cy="1862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altLang="ko-KR" sz="1400" b="1" dirty="0">
                <a:latin typeface="+mn-ea"/>
              </a:rPr>
              <a:t>- </a:t>
            </a:r>
            <a:r>
              <a:rPr lang="ko-KR" altLang="en-US" sz="1400" b="1" dirty="0">
                <a:latin typeface="+mn-ea"/>
              </a:rPr>
              <a:t>필요 </a:t>
            </a:r>
            <a:r>
              <a:rPr lang="en-US" altLang="ko-KR" sz="1400" b="1" dirty="0">
                <a:latin typeface="+mn-ea"/>
              </a:rPr>
              <a:t>resource(multiplier, adder) </a:t>
            </a:r>
            <a:r>
              <a:rPr lang="ko-KR" altLang="en-US" sz="1400" b="1" dirty="0">
                <a:latin typeface="+mn-ea"/>
              </a:rPr>
              <a:t>사용 최소화 위해</a:t>
            </a:r>
            <a:r>
              <a:rPr lang="en-US" altLang="ko-KR" sz="1400" b="1" dirty="0">
                <a:latin typeface="+mn-ea"/>
              </a:rPr>
              <a:t>, serial </a:t>
            </a:r>
            <a:r>
              <a:rPr lang="ko-KR" altLang="en-US" sz="1400" b="1" dirty="0">
                <a:latin typeface="+mn-ea"/>
              </a:rPr>
              <a:t>및 </a:t>
            </a:r>
            <a:r>
              <a:rPr lang="en-US" altLang="ko-KR" sz="1400" b="1" dirty="0">
                <a:latin typeface="+mn-ea"/>
              </a:rPr>
              <a:t>parallel </a:t>
            </a:r>
            <a:r>
              <a:rPr lang="ko-KR" altLang="en-US" sz="1400" b="1" dirty="0">
                <a:latin typeface="+mn-ea"/>
              </a:rPr>
              <a:t>동작 </a:t>
            </a:r>
            <a:r>
              <a:rPr lang="en-US" altLang="ko-KR" sz="1400" b="1" dirty="0">
                <a:latin typeface="+mn-ea"/>
              </a:rPr>
              <a:t>mix </a:t>
            </a:r>
            <a:r>
              <a:rPr lang="ko-KR" altLang="en-US" sz="1400" b="1" dirty="0">
                <a:latin typeface="+mn-ea"/>
              </a:rPr>
              <a:t>된 형태로 구성</a:t>
            </a:r>
            <a:endParaRPr lang="en-US" altLang="ko-KR" sz="1400" b="1" dirty="0">
              <a:latin typeface="+mn-ea"/>
            </a:endParaRPr>
          </a:p>
          <a:p>
            <a:pPr algn="l">
              <a:lnSpc>
                <a:spcPts val="2000"/>
              </a:lnSpc>
            </a:pPr>
            <a:r>
              <a:rPr lang="en-US" altLang="ko-KR" sz="1400" b="1" dirty="0">
                <a:latin typeface="+mn-ea"/>
              </a:rPr>
              <a:t>- Filter </a:t>
            </a:r>
            <a:r>
              <a:rPr lang="ko-KR" altLang="en-US" sz="1400" b="1" dirty="0">
                <a:latin typeface="+mn-ea"/>
              </a:rPr>
              <a:t>특성 </a:t>
            </a:r>
            <a:r>
              <a:rPr lang="en-US" altLang="ko-KR" sz="1400" b="1" dirty="0">
                <a:latin typeface="+mn-ea"/>
              </a:rPr>
              <a:t>: </a:t>
            </a:r>
          </a:p>
          <a:p>
            <a:pPr algn="l">
              <a:lnSpc>
                <a:spcPts val="2000"/>
              </a:lnSpc>
            </a:pPr>
            <a:r>
              <a:rPr lang="en-US" altLang="ko-KR" sz="1400" b="1" dirty="0">
                <a:latin typeface="+mn-ea"/>
              </a:rPr>
              <a:t>  1) band width 5%, 75dB attenuation (-75dB = 0.00018)</a:t>
            </a:r>
          </a:p>
          <a:p>
            <a:pPr algn="l">
              <a:lnSpc>
                <a:spcPts val="2000"/>
              </a:lnSpc>
            </a:pPr>
            <a:r>
              <a:rPr lang="en-US" altLang="ko-KR" sz="1400" b="1" dirty="0">
                <a:latin typeface="+mn-ea"/>
              </a:rPr>
              <a:t>  2) FIR Filter Tap = </a:t>
            </a:r>
            <a:r>
              <a:rPr lang="en-US" altLang="ko-KR" sz="1400" b="1" dirty="0" err="1">
                <a:latin typeface="+mn-ea"/>
              </a:rPr>
              <a:t>atten</a:t>
            </a:r>
            <a:r>
              <a:rPr lang="en-US" altLang="ko-KR" sz="1400" b="1" dirty="0">
                <a:latin typeface="+mn-ea"/>
              </a:rPr>
              <a:t> / 22 x Fs / (</a:t>
            </a:r>
            <a:r>
              <a:rPr lang="en-US" altLang="ko-KR" sz="1400" b="1" dirty="0" err="1">
                <a:latin typeface="+mn-ea"/>
              </a:rPr>
              <a:t>Fstop</a:t>
            </a:r>
            <a:r>
              <a:rPr lang="en-US" altLang="ko-KR" sz="1400" b="1" dirty="0">
                <a:latin typeface="+mn-ea"/>
              </a:rPr>
              <a:t> – </a:t>
            </a:r>
            <a:r>
              <a:rPr lang="en-US" altLang="ko-KR" sz="1400" b="1" dirty="0" err="1">
                <a:latin typeface="+mn-ea"/>
              </a:rPr>
              <a:t>Fpass</a:t>
            </a:r>
            <a:r>
              <a:rPr lang="en-US" altLang="ko-KR" sz="1400" b="1" dirty="0">
                <a:latin typeface="+mn-ea"/>
              </a:rPr>
              <a:t>) = 75 / 22 x 100 / 5 = 69 taps</a:t>
            </a:r>
          </a:p>
          <a:p>
            <a:pPr algn="l">
              <a:lnSpc>
                <a:spcPts val="2000"/>
              </a:lnSpc>
            </a:pPr>
            <a:r>
              <a:rPr lang="en-US" altLang="ko-KR" sz="1400" b="1" dirty="0">
                <a:latin typeface="+mn-ea"/>
              </a:rPr>
              <a:t>  3) Filtered output,  Y[n] = C0·X[n] + C1·X[n-1] + C2·X[n-2] + · · · · · + C68·X[n-68] 		// 69 taps</a:t>
            </a:r>
          </a:p>
          <a:p>
            <a:pPr algn="l">
              <a:lnSpc>
                <a:spcPts val="2000"/>
              </a:lnSpc>
            </a:pPr>
            <a:r>
              <a:rPr lang="en-US" altLang="ko-KR" sz="1400" b="1" dirty="0">
                <a:latin typeface="+mn-ea"/>
              </a:rPr>
              <a:t>                                    = YS[fir_0] + YS[fir_1] + YS[fir_2] +  · · · · · + YS[fir_13]		// 14 parallel FIR x 5 serial FIR</a:t>
            </a:r>
          </a:p>
          <a:p>
            <a:pPr algn="l">
              <a:lnSpc>
                <a:spcPts val="2000"/>
              </a:lnSpc>
            </a:pPr>
            <a:r>
              <a:rPr lang="en-US" altLang="ko-KR" sz="1400" b="1" dirty="0">
                <a:latin typeface="+mn-ea"/>
              </a:rPr>
              <a:t>  4) serial FIR,         YS[n] = C0·X[n] + C1·X[n-1] + C2·X[n-2] + C3·X[n-3] + C4·X[n-4]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6BA7C1-6FF0-539B-5D78-4B5E0562CD91}"/>
              </a:ext>
            </a:extLst>
          </p:cNvPr>
          <p:cNvSpPr txBox="1"/>
          <p:nvPr/>
        </p:nvSpPr>
        <p:spPr>
          <a:xfrm>
            <a:off x="421188" y="563688"/>
            <a:ext cx="8924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 dirty="0">
                <a:latin typeface="+mn-ea"/>
              </a:rPr>
              <a:t>Serial-parallel FIR filter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E1BB436-A8FB-6251-1B7D-A62A0063C8A4}"/>
              </a:ext>
            </a:extLst>
          </p:cNvPr>
          <p:cNvSpPr/>
          <p:nvPr/>
        </p:nvSpPr>
        <p:spPr>
          <a:xfrm>
            <a:off x="3361851" y="2986946"/>
            <a:ext cx="1467323" cy="5981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Serial FIR_0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(for tap : 0~4)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2E45859-70F8-B55F-9F79-4B6663964EC5}"/>
              </a:ext>
            </a:extLst>
          </p:cNvPr>
          <p:cNvSpPr/>
          <p:nvPr/>
        </p:nvSpPr>
        <p:spPr>
          <a:xfrm>
            <a:off x="3361851" y="3879114"/>
            <a:ext cx="1467320" cy="59054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Serial FIR_1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(for tap : 5~9)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97A9773-D4AC-A8BE-4F68-B6E95292668E}"/>
              </a:ext>
            </a:extLst>
          </p:cNvPr>
          <p:cNvSpPr/>
          <p:nvPr/>
        </p:nvSpPr>
        <p:spPr>
          <a:xfrm>
            <a:off x="3361851" y="5903792"/>
            <a:ext cx="1467319" cy="59054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Serial FIR_13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(for tap : 65~69)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B5BD4FF-7BC5-713F-0D6C-6B72BC9AF9F7}"/>
              </a:ext>
            </a:extLst>
          </p:cNvPr>
          <p:cNvSpPr/>
          <p:nvPr/>
        </p:nvSpPr>
        <p:spPr>
          <a:xfrm>
            <a:off x="3361851" y="4764255"/>
            <a:ext cx="1467319" cy="59054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Serial FIR_2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(for tap : 10~14)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9787E30-1F25-8A78-DF07-05E5316DC9E3}"/>
              </a:ext>
            </a:extLst>
          </p:cNvPr>
          <p:cNvCxnSpPr>
            <a:cxnSpLocks/>
          </p:cNvCxnSpPr>
          <p:nvPr/>
        </p:nvCxnSpPr>
        <p:spPr>
          <a:xfrm>
            <a:off x="2200275" y="3178432"/>
            <a:ext cx="11504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99F8CFD-D3A2-F602-CA2C-584BF9B13249}"/>
              </a:ext>
            </a:extLst>
          </p:cNvPr>
          <p:cNvSpPr txBox="1"/>
          <p:nvPr/>
        </p:nvSpPr>
        <p:spPr>
          <a:xfrm>
            <a:off x="1556198" y="3053622"/>
            <a:ext cx="7864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X[n]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745315B-1CFD-996F-83EF-006230A95AE4}"/>
              </a:ext>
            </a:extLst>
          </p:cNvPr>
          <p:cNvCxnSpPr>
            <a:cxnSpLocks/>
          </p:cNvCxnSpPr>
          <p:nvPr/>
        </p:nvCxnSpPr>
        <p:spPr>
          <a:xfrm>
            <a:off x="2200275" y="3378457"/>
            <a:ext cx="11504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52DBD39A-EB86-B374-789F-F5EA1EA56E83}"/>
              </a:ext>
            </a:extLst>
          </p:cNvPr>
          <p:cNvCxnSpPr>
            <a:cxnSpLocks/>
          </p:cNvCxnSpPr>
          <p:nvPr/>
        </p:nvCxnSpPr>
        <p:spPr>
          <a:xfrm flipV="1">
            <a:off x="2476500" y="3378457"/>
            <a:ext cx="0" cy="293370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8B0A20C-3EE9-2DA5-05A7-C8C71705227E}"/>
              </a:ext>
            </a:extLst>
          </p:cNvPr>
          <p:cNvSpPr txBox="1"/>
          <p:nvPr/>
        </p:nvSpPr>
        <p:spPr>
          <a:xfrm>
            <a:off x="1567337" y="3255346"/>
            <a:ext cx="7864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C[68:0]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F3B22FB4-3C81-A4E6-8F4C-F39B273AE88F}"/>
              </a:ext>
            </a:extLst>
          </p:cNvPr>
          <p:cNvCxnSpPr>
            <a:cxnSpLocks/>
          </p:cNvCxnSpPr>
          <p:nvPr/>
        </p:nvCxnSpPr>
        <p:spPr>
          <a:xfrm>
            <a:off x="2476500" y="4264282"/>
            <a:ext cx="8742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8909CDCB-2980-BF3E-49DB-660416253CA1}"/>
              </a:ext>
            </a:extLst>
          </p:cNvPr>
          <p:cNvCxnSpPr>
            <a:cxnSpLocks/>
          </p:cNvCxnSpPr>
          <p:nvPr/>
        </p:nvCxnSpPr>
        <p:spPr>
          <a:xfrm>
            <a:off x="2476500" y="5159632"/>
            <a:ext cx="8742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DFA637F6-2E69-C7FE-F828-A418F8877B42}"/>
              </a:ext>
            </a:extLst>
          </p:cNvPr>
          <p:cNvCxnSpPr>
            <a:cxnSpLocks/>
          </p:cNvCxnSpPr>
          <p:nvPr/>
        </p:nvCxnSpPr>
        <p:spPr>
          <a:xfrm>
            <a:off x="2476500" y="6312157"/>
            <a:ext cx="8636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80FB539B-828B-2426-C6E7-6C703DE4505C}"/>
              </a:ext>
            </a:extLst>
          </p:cNvPr>
          <p:cNvGrpSpPr/>
          <p:nvPr/>
        </p:nvGrpSpPr>
        <p:grpSpPr>
          <a:xfrm>
            <a:off x="2971800" y="3378457"/>
            <a:ext cx="2124075" cy="672103"/>
            <a:chOff x="3219450" y="3111757"/>
            <a:chExt cx="2124075" cy="672103"/>
          </a:xfrm>
        </p:grpSpPr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2944C2A2-0B05-9B19-3CC5-868E882BB763}"/>
                </a:ext>
              </a:extLst>
            </p:cNvPr>
            <p:cNvCxnSpPr>
              <a:cxnSpLocks/>
            </p:cNvCxnSpPr>
            <p:nvPr/>
          </p:nvCxnSpPr>
          <p:spPr>
            <a:xfrm>
              <a:off x="3228975" y="3783860"/>
              <a:ext cx="36833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4194BA9E-5182-8809-1F86-429CD7649D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9450" y="3462950"/>
              <a:ext cx="0" cy="32091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6AF0F8C3-AC76-A09F-BE17-689092E4E8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3525" y="3111757"/>
              <a:ext cx="0" cy="351193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E0BD4555-51F6-4DE6-3FA4-FAFE97D1214F}"/>
                </a:ext>
              </a:extLst>
            </p:cNvPr>
            <p:cNvCxnSpPr>
              <a:cxnSpLocks/>
            </p:cNvCxnSpPr>
            <p:nvPr/>
          </p:nvCxnSpPr>
          <p:spPr>
            <a:xfrm>
              <a:off x="3219450" y="3462950"/>
              <a:ext cx="21240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A3C1AE35-BA21-14EF-0C58-310EF67FA68A}"/>
                </a:ext>
              </a:extLst>
            </p:cNvPr>
            <p:cNvCxnSpPr>
              <a:cxnSpLocks/>
            </p:cNvCxnSpPr>
            <p:nvPr/>
          </p:nvCxnSpPr>
          <p:spPr>
            <a:xfrm>
              <a:off x="5076820" y="3111757"/>
              <a:ext cx="25718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9A2DD47F-B13D-5EFE-0508-26714360D687}"/>
              </a:ext>
            </a:extLst>
          </p:cNvPr>
          <p:cNvGrpSpPr/>
          <p:nvPr/>
        </p:nvGrpSpPr>
        <p:grpSpPr>
          <a:xfrm>
            <a:off x="2965469" y="4264282"/>
            <a:ext cx="2124075" cy="672103"/>
            <a:chOff x="3219450" y="3111757"/>
            <a:chExt cx="2124075" cy="672103"/>
          </a:xfrm>
        </p:grpSpPr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42221801-F1D7-9F62-9F92-8FFB780A68C8}"/>
                </a:ext>
              </a:extLst>
            </p:cNvPr>
            <p:cNvCxnSpPr>
              <a:cxnSpLocks/>
            </p:cNvCxnSpPr>
            <p:nvPr/>
          </p:nvCxnSpPr>
          <p:spPr>
            <a:xfrm>
              <a:off x="3228975" y="3783860"/>
              <a:ext cx="36833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6719BEFE-024C-04E2-5DDD-FAA193111F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9450" y="3462950"/>
              <a:ext cx="0" cy="32091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F0A54AAA-7C65-69B1-52C0-D7F1EEE961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3525" y="3111757"/>
              <a:ext cx="0" cy="351193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985A71F1-EB7D-7AEF-E09D-9447BB32D022}"/>
                </a:ext>
              </a:extLst>
            </p:cNvPr>
            <p:cNvCxnSpPr>
              <a:cxnSpLocks/>
            </p:cNvCxnSpPr>
            <p:nvPr/>
          </p:nvCxnSpPr>
          <p:spPr>
            <a:xfrm>
              <a:off x="3219450" y="3462950"/>
              <a:ext cx="21240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4B907042-EF3C-3058-DCDF-333412111863}"/>
                </a:ext>
              </a:extLst>
            </p:cNvPr>
            <p:cNvCxnSpPr>
              <a:cxnSpLocks/>
            </p:cNvCxnSpPr>
            <p:nvPr/>
          </p:nvCxnSpPr>
          <p:spPr>
            <a:xfrm>
              <a:off x="5076820" y="3111757"/>
              <a:ext cx="25718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7" name="직선 화살표 연결선 256">
            <a:extLst>
              <a:ext uri="{FF2B5EF4-FFF2-40B4-BE49-F238E27FC236}">
                <a16:creationId xmlns:a16="http://schemas.microsoft.com/office/drawing/2014/main" id="{55260F17-98F0-49FE-3495-579E82F5B874}"/>
              </a:ext>
            </a:extLst>
          </p:cNvPr>
          <p:cNvCxnSpPr>
            <a:cxnSpLocks/>
          </p:cNvCxnSpPr>
          <p:nvPr/>
        </p:nvCxnSpPr>
        <p:spPr>
          <a:xfrm>
            <a:off x="2976560" y="6104013"/>
            <a:ext cx="368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화살표 연결선 257">
            <a:extLst>
              <a:ext uri="{FF2B5EF4-FFF2-40B4-BE49-F238E27FC236}">
                <a16:creationId xmlns:a16="http://schemas.microsoft.com/office/drawing/2014/main" id="{B62F239D-4B24-A348-BF77-618931FB4189}"/>
              </a:ext>
            </a:extLst>
          </p:cNvPr>
          <p:cNvCxnSpPr>
            <a:cxnSpLocks/>
          </p:cNvCxnSpPr>
          <p:nvPr/>
        </p:nvCxnSpPr>
        <p:spPr>
          <a:xfrm flipV="1">
            <a:off x="2967035" y="5783103"/>
            <a:ext cx="0" cy="32091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화살표 연결선 258">
            <a:extLst>
              <a:ext uri="{FF2B5EF4-FFF2-40B4-BE49-F238E27FC236}">
                <a16:creationId xmlns:a16="http://schemas.microsoft.com/office/drawing/2014/main" id="{7FA2B926-6D10-A3E6-DCE0-D36E146AC6C6}"/>
              </a:ext>
            </a:extLst>
          </p:cNvPr>
          <p:cNvCxnSpPr>
            <a:cxnSpLocks/>
          </p:cNvCxnSpPr>
          <p:nvPr/>
        </p:nvCxnSpPr>
        <p:spPr>
          <a:xfrm flipV="1">
            <a:off x="5091110" y="5165210"/>
            <a:ext cx="0" cy="35119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화살표 연결선 259">
            <a:extLst>
              <a:ext uri="{FF2B5EF4-FFF2-40B4-BE49-F238E27FC236}">
                <a16:creationId xmlns:a16="http://schemas.microsoft.com/office/drawing/2014/main" id="{8D593E44-C52A-9627-0CDF-29D963DE3BEC}"/>
              </a:ext>
            </a:extLst>
          </p:cNvPr>
          <p:cNvCxnSpPr>
            <a:cxnSpLocks/>
          </p:cNvCxnSpPr>
          <p:nvPr/>
        </p:nvCxnSpPr>
        <p:spPr>
          <a:xfrm>
            <a:off x="4543425" y="5516403"/>
            <a:ext cx="54768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화살표 연결선 260">
            <a:extLst>
              <a:ext uri="{FF2B5EF4-FFF2-40B4-BE49-F238E27FC236}">
                <a16:creationId xmlns:a16="http://schemas.microsoft.com/office/drawing/2014/main" id="{5B99FE56-0782-B790-AA31-0BC627F0B3A0}"/>
              </a:ext>
            </a:extLst>
          </p:cNvPr>
          <p:cNvCxnSpPr>
            <a:cxnSpLocks/>
          </p:cNvCxnSpPr>
          <p:nvPr/>
        </p:nvCxnSpPr>
        <p:spPr>
          <a:xfrm>
            <a:off x="4824405" y="5165210"/>
            <a:ext cx="25718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화살표 연결선 262">
            <a:extLst>
              <a:ext uri="{FF2B5EF4-FFF2-40B4-BE49-F238E27FC236}">
                <a16:creationId xmlns:a16="http://schemas.microsoft.com/office/drawing/2014/main" id="{BAAB0350-2187-B774-DC44-F55607DB7840}"/>
              </a:ext>
            </a:extLst>
          </p:cNvPr>
          <p:cNvCxnSpPr>
            <a:cxnSpLocks/>
          </p:cNvCxnSpPr>
          <p:nvPr/>
        </p:nvCxnSpPr>
        <p:spPr>
          <a:xfrm>
            <a:off x="2965469" y="5775006"/>
            <a:ext cx="54768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66EE8B72-2066-EADD-044A-5CB3D13B125C}"/>
              </a:ext>
            </a:extLst>
          </p:cNvPr>
          <p:cNvSpPr txBox="1"/>
          <p:nvPr/>
        </p:nvSpPr>
        <p:spPr>
          <a:xfrm>
            <a:off x="4928055" y="3434708"/>
            <a:ext cx="7864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X[n-4]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25DB8141-2B42-E497-8D88-F62650797CD3}"/>
              </a:ext>
            </a:extLst>
          </p:cNvPr>
          <p:cNvSpPr txBox="1"/>
          <p:nvPr/>
        </p:nvSpPr>
        <p:spPr>
          <a:xfrm>
            <a:off x="4928055" y="4302518"/>
            <a:ext cx="7864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X[n-9]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A94AA632-0AFE-5FF6-1259-B434EC44A47C}"/>
              </a:ext>
            </a:extLst>
          </p:cNvPr>
          <p:cNvSpPr txBox="1"/>
          <p:nvPr/>
        </p:nvSpPr>
        <p:spPr>
          <a:xfrm>
            <a:off x="4956626" y="5199234"/>
            <a:ext cx="7864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X[n-14]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82A7DB8C-1750-B41F-2F9C-A64CC0FACADD}"/>
              </a:ext>
            </a:extLst>
          </p:cNvPr>
          <p:cNvSpPr txBox="1"/>
          <p:nvPr/>
        </p:nvSpPr>
        <p:spPr>
          <a:xfrm>
            <a:off x="2733674" y="5620325"/>
            <a:ext cx="7864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X[n-64]</a:t>
            </a:r>
          </a:p>
        </p:txBody>
      </p:sp>
      <p:sp>
        <p:nvSpPr>
          <p:cNvPr id="269" name="타원 268">
            <a:extLst>
              <a:ext uri="{FF2B5EF4-FFF2-40B4-BE49-F238E27FC236}">
                <a16:creationId xmlns:a16="http://schemas.microsoft.com/office/drawing/2014/main" id="{D6B32FEF-9308-7EC2-56FF-99AA7ABB8814}"/>
              </a:ext>
            </a:extLst>
          </p:cNvPr>
          <p:cNvSpPr/>
          <p:nvPr/>
        </p:nvSpPr>
        <p:spPr>
          <a:xfrm>
            <a:off x="4056084" y="5426406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0" name="타원 269">
            <a:extLst>
              <a:ext uri="{FF2B5EF4-FFF2-40B4-BE49-F238E27FC236}">
                <a16:creationId xmlns:a16="http://schemas.microsoft.com/office/drawing/2014/main" id="{DC9BD218-8C0A-0368-91B5-CB0C83FA87ED}"/>
              </a:ext>
            </a:extLst>
          </p:cNvPr>
          <p:cNvSpPr/>
          <p:nvPr/>
        </p:nvSpPr>
        <p:spPr>
          <a:xfrm>
            <a:off x="4057410" y="5577465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1" name="타원 270">
            <a:extLst>
              <a:ext uri="{FF2B5EF4-FFF2-40B4-BE49-F238E27FC236}">
                <a16:creationId xmlns:a16="http://schemas.microsoft.com/office/drawing/2014/main" id="{24C7101C-B302-580C-0D9D-B586DA7C4B97}"/>
              </a:ext>
            </a:extLst>
          </p:cNvPr>
          <p:cNvSpPr/>
          <p:nvPr/>
        </p:nvSpPr>
        <p:spPr>
          <a:xfrm>
            <a:off x="4057410" y="5724304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27EC1946-2DCF-1B19-507D-DBE12793DA46}"/>
              </a:ext>
            </a:extLst>
          </p:cNvPr>
          <p:cNvSpPr/>
          <p:nvPr/>
        </p:nvSpPr>
        <p:spPr>
          <a:xfrm>
            <a:off x="2438400" y="3346706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E538E182-187A-5983-6C5B-D633A58116DD}"/>
              </a:ext>
            </a:extLst>
          </p:cNvPr>
          <p:cNvSpPr/>
          <p:nvPr/>
        </p:nvSpPr>
        <p:spPr>
          <a:xfrm>
            <a:off x="2435491" y="5124766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4" name="타원 273">
            <a:extLst>
              <a:ext uri="{FF2B5EF4-FFF2-40B4-BE49-F238E27FC236}">
                <a16:creationId xmlns:a16="http://schemas.microsoft.com/office/drawing/2014/main" id="{ED4D3EA9-FC90-68DF-A2C4-B1E3527EF420}"/>
              </a:ext>
            </a:extLst>
          </p:cNvPr>
          <p:cNvSpPr/>
          <p:nvPr/>
        </p:nvSpPr>
        <p:spPr>
          <a:xfrm>
            <a:off x="2438657" y="4226318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9CEBFFD0-E484-CBE9-6BD1-0C19BD8488E9}"/>
              </a:ext>
            </a:extLst>
          </p:cNvPr>
          <p:cNvSpPr txBox="1"/>
          <p:nvPr/>
        </p:nvSpPr>
        <p:spPr>
          <a:xfrm>
            <a:off x="5188373" y="2971992"/>
            <a:ext cx="7864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YS[0]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ED1AD4-58C1-EDB3-E256-D421FB7428E4}"/>
              </a:ext>
            </a:extLst>
          </p:cNvPr>
          <p:cNvSpPr txBox="1"/>
          <p:nvPr/>
        </p:nvSpPr>
        <p:spPr>
          <a:xfrm>
            <a:off x="5204279" y="3876436"/>
            <a:ext cx="7864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YS[1]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2707D4-CD16-34D1-F72E-61FCE93C70B8}"/>
              </a:ext>
            </a:extLst>
          </p:cNvPr>
          <p:cNvSpPr txBox="1"/>
          <p:nvPr/>
        </p:nvSpPr>
        <p:spPr>
          <a:xfrm>
            <a:off x="5186807" y="4731852"/>
            <a:ext cx="7864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YS[2]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51AE38-BB8C-57EA-BDE4-3EC918C6EEAA}"/>
              </a:ext>
            </a:extLst>
          </p:cNvPr>
          <p:cNvSpPr txBox="1"/>
          <p:nvPr/>
        </p:nvSpPr>
        <p:spPr>
          <a:xfrm>
            <a:off x="5186807" y="5899273"/>
            <a:ext cx="7864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YS[13]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A410A8A-46C1-8AC6-6015-1AFE04E9EEFE}"/>
              </a:ext>
            </a:extLst>
          </p:cNvPr>
          <p:cNvCxnSpPr>
            <a:cxnSpLocks/>
          </p:cNvCxnSpPr>
          <p:nvPr/>
        </p:nvCxnSpPr>
        <p:spPr>
          <a:xfrm>
            <a:off x="4822839" y="3176732"/>
            <a:ext cx="2830496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E56DDC7-A1E2-1348-3BFA-63B526D00145}"/>
              </a:ext>
            </a:extLst>
          </p:cNvPr>
          <p:cNvCxnSpPr>
            <a:cxnSpLocks/>
          </p:cNvCxnSpPr>
          <p:nvPr/>
        </p:nvCxnSpPr>
        <p:spPr>
          <a:xfrm>
            <a:off x="4824405" y="4098989"/>
            <a:ext cx="264319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04DEC16-5EA7-E422-B7FD-0C2D8F27DB3A}"/>
              </a:ext>
            </a:extLst>
          </p:cNvPr>
          <p:cNvCxnSpPr>
            <a:cxnSpLocks/>
          </p:cNvCxnSpPr>
          <p:nvPr/>
        </p:nvCxnSpPr>
        <p:spPr>
          <a:xfrm flipV="1">
            <a:off x="7653335" y="3176732"/>
            <a:ext cx="0" cy="75952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21D8F955-B6B9-9564-BBBA-AF88DC0EA9F2}"/>
              </a:ext>
            </a:extLst>
          </p:cNvPr>
          <p:cNvCxnSpPr>
            <a:cxnSpLocks/>
          </p:cNvCxnSpPr>
          <p:nvPr/>
        </p:nvCxnSpPr>
        <p:spPr>
          <a:xfrm>
            <a:off x="4824405" y="4939033"/>
            <a:ext cx="150972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32D961CB-F611-1F7F-535C-7C723AF0D41E}"/>
              </a:ext>
            </a:extLst>
          </p:cNvPr>
          <p:cNvCxnSpPr>
            <a:cxnSpLocks/>
          </p:cNvCxnSpPr>
          <p:nvPr/>
        </p:nvCxnSpPr>
        <p:spPr>
          <a:xfrm>
            <a:off x="6334125" y="4312043"/>
            <a:ext cx="1042916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DB41A2B-D8B7-6E54-96A9-B0C138FB9762}"/>
              </a:ext>
            </a:extLst>
          </p:cNvPr>
          <p:cNvCxnSpPr>
            <a:cxnSpLocks/>
          </p:cNvCxnSpPr>
          <p:nvPr/>
        </p:nvCxnSpPr>
        <p:spPr>
          <a:xfrm flipV="1">
            <a:off x="6334125" y="4312043"/>
            <a:ext cx="0" cy="62434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B04F2FB-DFCD-18D7-882C-54BCF2EFDAA7}"/>
              </a:ext>
            </a:extLst>
          </p:cNvPr>
          <p:cNvCxnSpPr>
            <a:cxnSpLocks/>
          </p:cNvCxnSpPr>
          <p:nvPr/>
        </p:nvCxnSpPr>
        <p:spPr>
          <a:xfrm>
            <a:off x="4817267" y="6099395"/>
            <a:ext cx="305514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A11BBA9-6F57-8263-6E76-1623CCAD8224}"/>
              </a:ext>
            </a:extLst>
          </p:cNvPr>
          <p:cNvCxnSpPr>
            <a:cxnSpLocks/>
          </p:cNvCxnSpPr>
          <p:nvPr/>
        </p:nvCxnSpPr>
        <p:spPr>
          <a:xfrm flipV="1">
            <a:off x="7872410" y="5159632"/>
            <a:ext cx="0" cy="93976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077B42D3-6D7C-C9CC-F061-A8CBF36FF9C7}"/>
              </a:ext>
            </a:extLst>
          </p:cNvPr>
          <p:cNvCxnSpPr>
            <a:cxnSpLocks/>
          </p:cNvCxnSpPr>
          <p:nvPr/>
        </p:nvCxnSpPr>
        <p:spPr>
          <a:xfrm>
            <a:off x="8195674" y="4422710"/>
            <a:ext cx="11504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CCE2059-B546-1CCC-CABA-622B0068D109}"/>
              </a:ext>
            </a:extLst>
          </p:cNvPr>
          <p:cNvSpPr txBox="1"/>
          <p:nvPr/>
        </p:nvSpPr>
        <p:spPr>
          <a:xfrm>
            <a:off x="9186274" y="4299599"/>
            <a:ext cx="7864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Y[n]</a:t>
            </a:r>
          </a:p>
        </p:txBody>
      </p:sp>
    </p:spTree>
    <p:extLst>
      <p:ext uri="{BB962C8B-B14F-4D97-AF65-F5344CB8AC3E}">
        <p14:creationId xmlns:p14="http://schemas.microsoft.com/office/powerpoint/2010/main" val="2968799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제목 1">
            <a:extLst>
              <a:ext uri="{FF2B5EF4-FFF2-40B4-BE49-F238E27FC236}">
                <a16:creationId xmlns:a16="http://schemas.microsoft.com/office/drawing/2014/main" id="{3CBCF527-18F6-8208-13D2-AC6D6A8AE3EF}"/>
              </a:ext>
            </a:extLst>
          </p:cNvPr>
          <p:cNvSpPr txBox="1">
            <a:spLocks/>
          </p:cNvSpPr>
          <p:nvPr/>
        </p:nvSpPr>
        <p:spPr>
          <a:xfrm>
            <a:off x="147725" y="13673"/>
            <a:ext cx="11815439" cy="515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FPGA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Block Diagram                                                                     6 / 3</a:t>
            </a:r>
            <a:endParaRPr lang="ko-KR" altLang="en-US" sz="2400" dirty="0">
              <a:solidFill>
                <a:schemeClr val="bg1">
                  <a:lumMod val="9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C40BE9-537D-6B47-DD99-C4A060A4DEF8}"/>
              </a:ext>
            </a:extLst>
          </p:cNvPr>
          <p:cNvSpPr txBox="1"/>
          <p:nvPr/>
        </p:nvSpPr>
        <p:spPr>
          <a:xfrm>
            <a:off x="421188" y="963537"/>
            <a:ext cx="11065962" cy="1093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altLang="ko-KR" sz="1400" b="1" dirty="0">
                <a:latin typeface="+mn-ea"/>
              </a:rPr>
              <a:t>- FIR filter 1 </a:t>
            </a:r>
            <a:r>
              <a:rPr lang="ko-KR" altLang="en-US" sz="1400" b="1" dirty="0">
                <a:latin typeface="+mn-ea"/>
              </a:rPr>
              <a:t>단으로 </a:t>
            </a:r>
            <a:r>
              <a:rPr lang="ko-KR" altLang="en-US" sz="1400" b="1" dirty="0" err="1">
                <a:latin typeface="+mn-ea"/>
              </a:rPr>
              <a:t>구성시</a:t>
            </a:r>
            <a:r>
              <a:rPr lang="ko-KR" altLang="en-US" sz="1400" b="1" dirty="0">
                <a:latin typeface="+mn-ea"/>
              </a:rPr>
              <a:t> </a:t>
            </a:r>
            <a:r>
              <a:rPr lang="en-US" altLang="ko-KR" sz="1400" b="1" dirty="0">
                <a:latin typeface="+mn-ea"/>
              </a:rPr>
              <a:t>38,000 </a:t>
            </a:r>
            <a:r>
              <a:rPr lang="ko-KR" altLang="en-US" sz="1400" b="1" dirty="0">
                <a:latin typeface="+mn-ea"/>
              </a:rPr>
              <a:t>개의 </a:t>
            </a:r>
            <a:r>
              <a:rPr lang="en-US" altLang="ko-KR" sz="1400" b="1" dirty="0">
                <a:latin typeface="+mn-ea"/>
              </a:rPr>
              <a:t>tap </a:t>
            </a:r>
            <a:r>
              <a:rPr lang="ko-KR" altLang="en-US" sz="1400" b="1" dirty="0">
                <a:latin typeface="+mn-ea"/>
              </a:rPr>
              <a:t>이 필요함</a:t>
            </a:r>
            <a:r>
              <a:rPr lang="en-US" altLang="ko-KR" sz="1400" b="1" dirty="0">
                <a:latin typeface="+mn-ea"/>
              </a:rPr>
              <a:t>. (= 38,000 </a:t>
            </a:r>
            <a:r>
              <a:rPr lang="ko-KR" altLang="en-US" sz="1400" b="1" dirty="0">
                <a:latin typeface="+mn-ea"/>
              </a:rPr>
              <a:t>개의 </a:t>
            </a:r>
            <a:r>
              <a:rPr lang="en-US" altLang="ko-KR" sz="1400" b="1" dirty="0">
                <a:latin typeface="+mn-ea"/>
              </a:rPr>
              <a:t>multiplier + adder </a:t>
            </a:r>
            <a:r>
              <a:rPr lang="ko-KR" altLang="en-US" sz="1400" b="1" dirty="0">
                <a:latin typeface="+mn-ea"/>
              </a:rPr>
              <a:t>필요</a:t>
            </a:r>
            <a:r>
              <a:rPr lang="en-US" altLang="ko-KR" sz="1400" b="1" dirty="0">
                <a:latin typeface="+mn-ea"/>
              </a:rPr>
              <a:t>)</a:t>
            </a:r>
          </a:p>
          <a:p>
            <a:pPr algn="l">
              <a:lnSpc>
                <a:spcPts val="2000"/>
              </a:lnSpc>
            </a:pPr>
            <a:r>
              <a:rPr lang="en-US" altLang="ko-KR" sz="1400" b="1" dirty="0">
                <a:latin typeface="+mn-ea"/>
              </a:rPr>
              <a:t>- 69 tap </a:t>
            </a:r>
            <a:r>
              <a:rPr lang="ko-KR" altLang="en-US" sz="1400" b="1" dirty="0">
                <a:latin typeface="+mn-ea"/>
              </a:rPr>
              <a:t>사용한 </a:t>
            </a:r>
            <a:r>
              <a:rPr lang="en-US" altLang="ko-KR" sz="1400" b="1" dirty="0">
                <a:latin typeface="+mn-ea"/>
              </a:rPr>
              <a:t>FIR filter 3 </a:t>
            </a:r>
            <a:r>
              <a:rPr lang="ko-KR" altLang="en-US" sz="1400" b="1" dirty="0">
                <a:latin typeface="+mn-ea"/>
              </a:rPr>
              <a:t>단</a:t>
            </a:r>
            <a:r>
              <a:rPr lang="en-US" altLang="ko-KR" sz="1400" b="1" dirty="0">
                <a:latin typeface="+mn-ea"/>
              </a:rPr>
              <a:t> cascading</a:t>
            </a:r>
            <a:r>
              <a:rPr lang="ko-KR" altLang="en-US" sz="1400" b="1" dirty="0">
                <a:latin typeface="+mn-ea"/>
              </a:rPr>
              <a:t> 형태로 구성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algn="l">
              <a:lnSpc>
                <a:spcPts val="2000"/>
              </a:lnSpc>
            </a:pPr>
            <a:r>
              <a:rPr lang="en-US" altLang="ko-KR" sz="1400" b="1" dirty="0">
                <a:latin typeface="+mn-ea"/>
              </a:rPr>
              <a:t>- down sampling </a:t>
            </a:r>
            <a:r>
              <a:rPr lang="ko-KR" altLang="en-US" sz="1400" b="1" dirty="0">
                <a:latin typeface="+mn-ea"/>
              </a:rPr>
              <a:t>시 </a:t>
            </a:r>
            <a:r>
              <a:rPr lang="en-US" altLang="ko-KR" sz="1400" b="1" dirty="0">
                <a:latin typeface="+mn-ea"/>
              </a:rPr>
              <a:t>alias </a:t>
            </a:r>
            <a:r>
              <a:rPr lang="ko-KR" altLang="en-US" sz="1400" b="1" dirty="0">
                <a:latin typeface="+mn-ea"/>
              </a:rPr>
              <a:t>문제 해결을 위해 </a:t>
            </a:r>
            <a:r>
              <a:rPr lang="en-US" altLang="ko-KR" sz="1400" b="1" dirty="0">
                <a:latin typeface="+mn-ea"/>
              </a:rPr>
              <a:t>LPF </a:t>
            </a:r>
            <a:r>
              <a:rPr lang="ko-KR" altLang="en-US" sz="1400" b="1" dirty="0">
                <a:latin typeface="+mn-ea"/>
              </a:rPr>
              <a:t>가 필요함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algn="l">
              <a:lnSpc>
                <a:spcPts val="2000"/>
              </a:lnSpc>
            </a:pPr>
            <a:endParaRPr lang="en-US" altLang="ko-KR" sz="1400" b="1" dirty="0"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6BA7C1-6FF0-539B-5D78-4B5E0562CD91}"/>
              </a:ext>
            </a:extLst>
          </p:cNvPr>
          <p:cNvSpPr txBox="1"/>
          <p:nvPr/>
        </p:nvSpPr>
        <p:spPr>
          <a:xfrm>
            <a:off x="421188" y="563688"/>
            <a:ext cx="8924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 dirty="0">
                <a:latin typeface="+mn-ea"/>
              </a:rPr>
              <a:t>FIR filter cascading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2710B52-54EE-857B-F0FD-2F2DFD3FFBC2}"/>
              </a:ext>
            </a:extLst>
          </p:cNvPr>
          <p:cNvGrpSpPr/>
          <p:nvPr/>
        </p:nvGrpSpPr>
        <p:grpSpPr>
          <a:xfrm>
            <a:off x="1971204" y="2335687"/>
            <a:ext cx="1572096" cy="1093313"/>
            <a:chOff x="2780829" y="4797897"/>
            <a:chExt cx="1572096" cy="1093313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B544611-3FC6-1BB9-E950-D80A65CBAA44}"/>
                </a:ext>
              </a:extLst>
            </p:cNvPr>
            <p:cNvSpPr/>
            <p:nvPr/>
          </p:nvSpPr>
          <p:spPr>
            <a:xfrm>
              <a:off x="2780829" y="4797897"/>
              <a:ext cx="1572096" cy="109331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10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endParaRPr lang="en-US" altLang="ko-KR" sz="10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endParaRPr lang="en-US" altLang="ko-KR" sz="10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endParaRPr lang="en-US" altLang="ko-KR" sz="10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endParaRPr lang="en-US" altLang="ko-KR" sz="10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+mn-ea"/>
                </a:rPr>
                <a:t>LPF</a:t>
              </a:r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9BF8122-F3F7-2EC7-9297-00BDCE3377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76575" y="4864336"/>
              <a:ext cx="1028700" cy="769701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F0B25A6-51EF-48D3-10FF-E17AFE72953E}"/>
              </a:ext>
            </a:extLst>
          </p:cNvPr>
          <p:cNvGrpSpPr/>
          <p:nvPr/>
        </p:nvGrpSpPr>
        <p:grpSpPr>
          <a:xfrm>
            <a:off x="5058347" y="2335686"/>
            <a:ext cx="1572096" cy="1093313"/>
            <a:chOff x="2780829" y="4797897"/>
            <a:chExt cx="1572096" cy="1093313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439FE2FF-4434-4C6C-F8AC-A14FB1C29512}"/>
                </a:ext>
              </a:extLst>
            </p:cNvPr>
            <p:cNvSpPr/>
            <p:nvPr/>
          </p:nvSpPr>
          <p:spPr>
            <a:xfrm>
              <a:off x="2780829" y="4797897"/>
              <a:ext cx="1572096" cy="109331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10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endParaRPr lang="en-US" altLang="ko-KR" sz="10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endParaRPr lang="en-US" altLang="ko-KR" sz="10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endParaRPr lang="en-US" altLang="ko-KR" sz="10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endParaRPr lang="en-US" altLang="ko-KR" sz="10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+mn-ea"/>
                </a:rPr>
                <a:t>LPF</a:t>
              </a:r>
            </a:p>
          </p:txBody>
        </p:sp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37570FDE-7342-AB65-A12B-A39563341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76575" y="4864336"/>
              <a:ext cx="1028700" cy="769701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5E73F2D-4852-34A5-9041-5B2875045AA1}"/>
              </a:ext>
            </a:extLst>
          </p:cNvPr>
          <p:cNvGrpSpPr/>
          <p:nvPr/>
        </p:nvGrpSpPr>
        <p:grpSpPr>
          <a:xfrm>
            <a:off x="8250265" y="2335686"/>
            <a:ext cx="1572096" cy="1093313"/>
            <a:chOff x="2780829" y="4797897"/>
            <a:chExt cx="1572096" cy="1093313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3194D6F-4F5F-5FCB-9CEE-AFAADCEF6492}"/>
                </a:ext>
              </a:extLst>
            </p:cNvPr>
            <p:cNvSpPr/>
            <p:nvPr/>
          </p:nvSpPr>
          <p:spPr>
            <a:xfrm>
              <a:off x="2780829" y="4797897"/>
              <a:ext cx="1572096" cy="109331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10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endParaRPr lang="en-US" altLang="ko-KR" sz="10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endParaRPr lang="en-US" altLang="ko-KR" sz="10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endParaRPr lang="en-US" altLang="ko-KR" sz="10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endParaRPr lang="en-US" altLang="ko-KR" sz="10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+mn-ea"/>
                </a:rPr>
                <a:t>LPF</a:t>
              </a:r>
            </a:p>
          </p:txBody>
        </p:sp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578D38BA-3A95-E956-F097-A2C7A0404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76575" y="4864336"/>
              <a:ext cx="1028700" cy="769701"/>
            </a:xfrm>
            <a:prstGeom prst="rect">
              <a:avLst/>
            </a:prstGeom>
          </p:spPr>
        </p:pic>
      </p:grp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7FE9E6F7-F672-4113-C2C0-C111BE4F85AE}"/>
              </a:ext>
            </a:extLst>
          </p:cNvPr>
          <p:cNvCxnSpPr>
            <a:cxnSpLocks/>
          </p:cNvCxnSpPr>
          <p:nvPr/>
        </p:nvCxnSpPr>
        <p:spPr>
          <a:xfrm>
            <a:off x="1123950" y="2897447"/>
            <a:ext cx="8378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04AF503-5934-C601-CF7E-74FD06F92C86}"/>
              </a:ext>
            </a:extLst>
          </p:cNvPr>
          <p:cNvSpPr txBox="1"/>
          <p:nvPr/>
        </p:nvSpPr>
        <p:spPr>
          <a:xfrm>
            <a:off x="528705" y="2774336"/>
            <a:ext cx="7864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X[n]</a:t>
            </a: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01BE3EF5-ADF9-540B-C7AC-147BB1D079CC}"/>
              </a:ext>
            </a:extLst>
          </p:cNvPr>
          <p:cNvCxnSpPr>
            <a:cxnSpLocks/>
          </p:cNvCxnSpPr>
          <p:nvPr/>
        </p:nvCxnSpPr>
        <p:spPr>
          <a:xfrm>
            <a:off x="3543300" y="2897446"/>
            <a:ext cx="15150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1EB75007-69A0-DA49-04D7-14CAADA3FF5F}"/>
              </a:ext>
            </a:extLst>
          </p:cNvPr>
          <p:cNvCxnSpPr>
            <a:cxnSpLocks/>
          </p:cNvCxnSpPr>
          <p:nvPr/>
        </p:nvCxnSpPr>
        <p:spPr>
          <a:xfrm>
            <a:off x="6619875" y="2897446"/>
            <a:ext cx="16303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02FF26D0-781A-286C-B82B-15DF384A2691}"/>
              </a:ext>
            </a:extLst>
          </p:cNvPr>
          <p:cNvCxnSpPr>
            <a:cxnSpLocks/>
          </p:cNvCxnSpPr>
          <p:nvPr/>
        </p:nvCxnSpPr>
        <p:spPr>
          <a:xfrm>
            <a:off x="9822044" y="2897446"/>
            <a:ext cx="8378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A7E9410-FE88-49D4-44EF-A6C6153B4BF6}"/>
              </a:ext>
            </a:extLst>
          </p:cNvPr>
          <p:cNvSpPr txBox="1"/>
          <p:nvPr/>
        </p:nvSpPr>
        <p:spPr>
          <a:xfrm>
            <a:off x="10514033" y="2759231"/>
            <a:ext cx="7864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Y[n]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061047-6EA2-45B2-5ACF-4034CEC55D55}"/>
              </a:ext>
            </a:extLst>
          </p:cNvPr>
          <p:cNvSpPr txBox="1"/>
          <p:nvPr/>
        </p:nvSpPr>
        <p:spPr>
          <a:xfrm>
            <a:off x="1834628" y="3520041"/>
            <a:ext cx="18452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     </a:t>
            </a:r>
            <a:r>
              <a:rPr lang="en-US" altLang="ko-KR" sz="1200" b="1" u="sng" dirty="0">
                <a:solidFill>
                  <a:srgbClr val="0000FF"/>
                </a:solidFill>
                <a:latin typeface="+mn-ea"/>
              </a:rPr>
              <a:t>&lt; FIR Filter 1 &gt;</a:t>
            </a:r>
          </a:p>
          <a:p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- Fs : 10 MHz</a:t>
            </a:r>
          </a:p>
          <a:p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- Fc : 150 </a:t>
            </a:r>
            <a:r>
              <a:rPr lang="en-US" altLang="ko-KR" sz="1200" b="1" dirty="0" err="1">
                <a:solidFill>
                  <a:srgbClr val="0000FF"/>
                </a:solidFill>
                <a:latin typeface="+mn-ea"/>
              </a:rPr>
              <a:t>KHz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- </a:t>
            </a:r>
            <a:r>
              <a:rPr lang="en-US" altLang="ko-KR" sz="1200" b="1" dirty="0" err="1">
                <a:solidFill>
                  <a:srgbClr val="0000FF"/>
                </a:solidFill>
                <a:latin typeface="+mn-ea"/>
              </a:rPr>
              <a:t>Fstop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 : 300 </a:t>
            </a:r>
            <a:r>
              <a:rPr lang="en-US" altLang="ko-KR" sz="1200" b="1" dirty="0" err="1">
                <a:solidFill>
                  <a:srgbClr val="0000FF"/>
                </a:solidFill>
                <a:latin typeface="+mn-ea"/>
              </a:rPr>
              <a:t>KHz</a:t>
            </a:r>
            <a:endParaRPr lang="ko-KR" altLang="en-US" sz="1200" b="1" dirty="0">
              <a:solidFill>
                <a:srgbClr val="0000FF"/>
              </a:solidFill>
              <a:latin typeface="+mn-ea"/>
            </a:endParaRPr>
          </a:p>
          <a:p>
            <a:endParaRPr lang="ko-KR" altLang="en-US" sz="12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A5213EF-6957-974F-B046-2242A400C764}"/>
              </a:ext>
            </a:extLst>
          </p:cNvPr>
          <p:cNvSpPr txBox="1"/>
          <p:nvPr/>
        </p:nvSpPr>
        <p:spPr>
          <a:xfrm>
            <a:off x="3646591" y="2558596"/>
            <a:ext cx="1370870" cy="61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down sampling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1/16 = 625KHz</a:t>
            </a:r>
            <a:endParaRPr lang="ko-KR" altLang="en-US" sz="12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5275E815-C0C4-FDFF-569B-A9E5A8ECF310}"/>
              </a:ext>
            </a:extLst>
          </p:cNvPr>
          <p:cNvSpPr txBox="1"/>
          <p:nvPr/>
        </p:nvSpPr>
        <p:spPr>
          <a:xfrm>
            <a:off x="4907823" y="3520233"/>
            <a:ext cx="18452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     </a:t>
            </a:r>
            <a:r>
              <a:rPr lang="en-US" altLang="ko-KR" sz="1200" b="1" u="sng" dirty="0">
                <a:solidFill>
                  <a:srgbClr val="0000FF"/>
                </a:solidFill>
                <a:latin typeface="+mn-ea"/>
              </a:rPr>
              <a:t>&lt; FIR Filter 2 &gt;</a:t>
            </a:r>
          </a:p>
          <a:p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- Fs : 625 </a:t>
            </a:r>
            <a:r>
              <a:rPr lang="en-US" altLang="ko-KR" sz="1200" b="1" dirty="0" err="1">
                <a:solidFill>
                  <a:srgbClr val="0000FF"/>
                </a:solidFill>
                <a:latin typeface="+mn-ea"/>
              </a:rPr>
              <a:t>KHz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- Fc : 15 </a:t>
            </a:r>
            <a:r>
              <a:rPr lang="en-US" altLang="ko-KR" sz="1200" b="1" dirty="0" err="1">
                <a:solidFill>
                  <a:srgbClr val="0000FF"/>
                </a:solidFill>
                <a:latin typeface="+mn-ea"/>
              </a:rPr>
              <a:t>KHz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- </a:t>
            </a:r>
            <a:r>
              <a:rPr lang="en-US" altLang="ko-KR" sz="1200" b="1" dirty="0" err="1">
                <a:solidFill>
                  <a:srgbClr val="0000FF"/>
                </a:solidFill>
                <a:latin typeface="+mn-ea"/>
              </a:rPr>
              <a:t>Fstop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 : 30 </a:t>
            </a:r>
            <a:r>
              <a:rPr lang="en-US" altLang="ko-KR" sz="1200" b="1" dirty="0" err="1">
                <a:solidFill>
                  <a:srgbClr val="0000FF"/>
                </a:solidFill>
                <a:latin typeface="+mn-ea"/>
              </a:rPr>
              <a:t>KHz</a:t>
            </a:r>
            <a:endParaRPr lang="ko-KR" altLang="en-US" sz="1200" b="1" dirty="0">
              <a:solidFill>
                <a:srgbClr val="0000FF"/>
              </a:solidFill>
              <a:latin typeface="+mn-ea"/>
            </a:endParaRPr>
          </a:p>
          <a:p>
            <a:endParaRPr lang="ko-KR" altLang="en-US" sz="12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950A725B-7276-F176-9741-85837BE46E6B}"/>
              </a:ext>
            </a:extLst>
          </p:cNvPr>
          <p:cNvSpPr txBox="1"/>
          <p:nvPr/>
        </p:nvSpPr>
        <p:spPr>
          <a:xfrm>
            <a:off x="8139920" y="3520603"/>
            <a:ext cx="1845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     </a:t>
            </a:r>
            <a:r>
              <a:rPr lang="en-US" altLang="ko-KR" sz="1200" b="1" u="sng" dirty="0">
                <a:solidFill>
                  <a:srgbClr val="0000FF"/>
                </a:solidFill>
                <a:latin typeface="+mn-ea"/>
              </a:rPr>
              <a:t>&lt; FIR Filter 3 &gt;</a:t>
            </a:r>
          </a:p>
          <a:p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- Fs : 39 </a:t>
            </a:r>
            <a:r>
              <a:rPr lang="en-US" altLang="ko-KR" sz="1200" b="1" dirty="0" err="1">
                <a:solidFill>
                  <a:srgbClr val="0000FF"/>
                </a:solidFill>
                <a:latin typeface="+mn-ea"/>
              </a:rPr>
              <a:t>KHz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- Fc : 2 </a:t>
            </a:r>
            <a:r>
              <a:rPr lang="en-US" altLang="ko-KR" sz="1200" b="1" dirty="0" err="1">
                <a:solidFill>
                  <a:srgbClr val="0000FF"/>
                </a:solidFill>
                <a:latin typeface="+mn-ea"/>
              </a:rPr>
              <a:t>KHz</a:t>
            </a:r>
            <a:endParaRPr lang="ko-KR" altLang="en-US" sz="1200" b="1" dirty="0">
              <a:solidFill>
                <a:srgbClr val="0000FF"/>
              </a:solidFill>
              <a:latin typeface="+mn-ea"/>
            </a:endParaRPr>
          </a:p>
          <a:p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- </a:t>
            </a:r>
            <a:r>
              <a:rPr lang="en-US" altLang="ko-KR" sz="1200" b="1" dirty="0" err="1">
                <a:solidFill>
                  <a:srgbClr val="0000FF"/>
                </a:solidFill>
                <a:latin typeface="+mn-ea"/>
              </a:rPr>
              <a:t>Fstop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 : 4 </a:t>
            </a:r>
            <a:r>
              <a:rPr lang="en-US" altLang="ko-KR" sz="1200" b="1" dirty="0" err="1">
                <a:solidFill>
                  <a:srgbClr val="0000FF"/>
                </a:solidFill>
                <a:latin typeface="+mn-ea"/>
              </a:rPr>
              <a:t>KHz</a:t>
            </a:r>
            <a:endParaRPr lang="ko-KR" altLang="en-US" sz="12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B80B2DAA-708E-38F2-F06D-5E951FF4C3C3}"/>
              </a:ext>
            </a:extLst>
          </p:cNvPr>
          <p:cNvSpPr txBox="1"/>
          <p:nvPr/>
        </p:nvSpPr>
        <p:spPr>
          <a:xfrm>
            <a:off x="6717941" y="2551315"/>
            <a:ext cx="1370870" cy="61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down sampling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1/16 = 39KHz</a:t>
            </a:r>
            <a:endParaRPr lang="ko-KR" altLang="en-US" sz="1200" b="1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2697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제목 1">
            <a:extLst>
              <a:ext uri="{FF2B5EF4-FFF2-40B4-BE49-F238E27FC236}">
                <a16:creationId xmlns:a16="http://schemas.microsoft.com/office/drawing/2014/main" id="{3CBCF527-18F6-8208-13D2-AC6D6A8AE3EF}"/>
              </a:ext>
            </a:extLst>
          </p:cNvPr>
          <p:cNvSpPr txBox="1">
            <a:spLocks/>
          </p:cNvSpPr>
          <p:nvPr/>
        </p:nvSpPr>
        <p:spPr>
          <a:xfrm>
            <a:off x="147725" y="13673"/>
            <a:ext cx="11815439" cy="515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FPGA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Block Diagram                                                                     7 / 3</a:t>
            </a:r>
            <a:endParaRPr lang="ko-KR" altLang="en-US" sz="2400" dirty="0">
              <a:solidFill>
                <a:schemeClr val="bg1">
                  <a:lumMod val="9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C40BE9-537D-6B47-DD99-C4A060A4DEF8}"/>
              </a:ext>
            </a:extLst>
          </p:cNvPr>
          <p:cNvSpPr txBox="1"/>
          <p:nvPr/>
        </p:nvSpPr>
        <p:spPr>
          <a:xfrm>
            <a:off x="421188" y="563688"/>
            <a:ext cx="89249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 dirty="0"/>
              <a:t>Baseline wandering </a:t>
            </a:r>
            <a:r>
              <a:rPr lang="ko-KR" altLang="en-US" b="1" dirty="0"/>
              <a:t>제거용 </a:t>
            </a:r>
            <a:r>
              <a:rPr lang="en-US" altLang="ko-KR" b="1" dirty="0"/>
              <a:t>Filter </a:t>
            </a:r>
            <a:r>
              <a:rPr lang="ko-KR" altLang="en-US" b="1" dirty="0"/>
              <a:t>특성 결정을 위한  </a:t>
            </a:r>
            <a:r>
              <a:rPr lang="en-US" altLang="ko-KR" b="1" dirty="0"/>
              <a:t>analog </a:t>
            </a:r>
            <a:r>
              <a:rPr lang="ko-KR" altLang="en-US" b="1" dirty="0"/>
              <a:t>신호 주파수 성분 추정</a:t>
            </a:r>
            <a:endParaRPr lang="en-US" altLang="ko-KR" b="1" dirty="0"/>
          </a:p>
          <a:p>
            <a:pPr algn="l"/>
            <a:endParaRPr lang="en-US" altLang="ko-KR" sz="1400" b="1" dirty="0">
              <a:latin typeface="+mn-ea"/>
            </a:endParaRPr>
          </a:p>
          <a:p>
            <a:pPr algn="l"/>
            <a:r>
              <a:rPr lang="en-US" altLang="ko-KR" sz="1400" b="1" dirty="0">
                <a:latin typeface="+mn-ea"/>
              </a:rPr>
              <a:t>- analog </a:t>
            </a:r>
            <a:r>
              <a:rPr lang="ko-KR" altLang="en-US" sz="1400" b="1" dirty="0">
                <a:latin typeface="+mn-ea"/>
              </a:rPr>
              <a:t>신호 주파수 범위는 </a:t>
            </a:r>
            <a:r>
              <a:rPr lang="en-US" altLang="ko-KR" sz="1400" b="1" dirty="0">
                <a:latin typeface="+mn-ea"/>
              </a:rPr>
              <a:t>10 </a:t>
            </a:r>
            <a:r>
              <a:rPr lang="en-US" altLang="ko-KR" sz="1400" b="1" dirty="0" err="1">
                <a:latin typeface="+mn-ea"/>
              </a:rPr>
              <a:t>KHz</a:t>
            </a:r>
            <a:r>
              <a:rPr lang="en-US" altLang="ko-KR" sz="1400" b="1" dirty="0">
                <a:latin typeface="+mn-ea"/>
              </a:rPr>
              <a:t> ~ 50 </a:t>
            </a:r>
            <a:r>
              <a:rPr lang="en-US" altLang="ko-KR" sz="1400" b="1" dirty="0" err="1">
                <a:latin typeface="+mn-ea"/>
              </a:rPr>
              <a:t>KHz</a:t>
            </a:r>
            <a:r>
              <a:rPr lang="en-US" altLang="ko-KR" sz="1400" b="1" dirty="0">
                <a:latin typeface="+mn-ea"/>
              </a:rPr>
              <a:t> </a:t>
            </a:r>
            <a:r>
              <a:rPr lang="ko-KR" altLang="en-US" sz="1400" b="1" dirty="0">
                <a:latin typeface="+mn-ea"/>
              </a:rPr>
              <a:t>정도로 추정 </a:t>
            </a:r>
            <a:endParaRPr lang="en-US" altLang="ko-KR" sz="1400" b="1" dirty="0">
              <a:latin typeface="+mn-ea"/>
            </a:endParaRPr>
          </a:p>
          <a:p>
            <a:pPr algn="l"/>
            <a:r>
              <a:rPr lang="en-US" altLang="ko-KR" sz="1400" b="1" dirty="0">
                <a:latin typeface="+mn-ea"/>
              </a:rPr>
              <a:t>- </a:t>
            </a:r>
            <a:r>
              <a:rPr lang="ko-KR" altLang="en-US" sz="1400" b="1" dirty="0">
                <a:latin typeface="+mn-ea"/>
              </a:rPr>
              <a:t>여유를 더해 </a:t>
            </a:r>
            <a:r>
              <a:rPr lang="en-US" altLang="ko-KR" sz="1400" b="1" dirty="0">
                <a:latin typeface="+mn-ea"/>
              </a:rPr>
              <a:t>Filter Fc(cutoff </a:t>
            </a:r>
            <a:r>
              <a:rPr lang="ko-KR" altLang="en-US" sz="1400" b="1" dirty="0">
                <a:latin typeface="+mn-ea"/>
              </a:rPr>
              <a:t>주파수</a:t>
            </a:r>
            <a:r>
              <a:rPr lang="en-US" altLang="ko-KR" sz="1400" b="1" dirty="0">
                <a:latin typeface="+mn-ea"/>
              </a:rPr>
              <a:t>) </a:t>
            </a:r>
            <a:r>
              <a:rPr lang="ko-KR" altLang="en-US" sz="1400" b="1" dirty="0">
                <a:latin typeface="+mn-ea"/>
              </a:rPr>
              <a:t>는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en-US" altLang="ko-KR" sz="1400" b="1" dirty="0" err="1">
                <a:latin typeface="+mn-ea"/>
              </a:rPr>
              <a:t>KHz</a:t>
            </a:r>
            <a:r>
              <a:rPr lang="ko-KR" altLang="en-US" sz="1400" b="1" dirty="0">
                <a:latin typeface="+mn-ea"/>
              </a:rPr>
              <a:t> 로 선정</a:t>
            </a:r>
            <a:endParaRPr lang="en-US" altLang="ko-KR" sz="1400" b="1" dirty="0"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4B1DC3C-AEFF-B525-0BC0-D69711C2F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025" y="2481262"/>
            <a:ext cx="7677150" cy="3248025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B966F30-A363-3967-C750-80AFE9028E4D}"/>
              </a:ext>
            </a:extLst>
          </p:cNvPr>
          <p:cNvCxnSpPr>
            <a:cxnSpLocks/>
          </p:cNvCxnSpPr>
          <p:nvPr/>
        </p:nvCxnSpPr>
        <p:spPr>
          <a:xfrm>
            <a:off x="2542372" y="3696159"/>
            <a:ext cx="80859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8DE18CA-8C3F-6D4F-C97C-AAEFAE4A39AF}"/>
              </a:ext>
            </a:extLst>
          </p:cNvPr>
          <p:cNvCxnSpPr>
            <a:cxnSpLocks/>
          </p:cNvCxnSpPr>
          <p:nvPr/>
        </p:nvCxnSpPr>
        <p:spPr>
          <a:xfrm>
            <a:off x="3974564" y="3622942"/>
            <a:ext cx="148062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27D8591-4E6A-E4F1-8B3C-0EAAA7213053}"/>
              </a:ext>
            </a:extLst>
          </p:cNvPr>
          <p:cNvCxnSpPr>
            <a:cxnSpLocks/>
          </p:cNvCxnSpPr>
          <p:nvPr/>
        </p:nvCxnSpPr>
        <p:spPr>
          <a:xfrm>
            <a:off x="6464376" y="2917863"/>
            <a:ext cx="249417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E64E031-07FE-9362-0581-83B5E178736A}"/>
              </a:ext>
            </a:extLst>
          </p:cNvPr>
          <p:cNvSpPr txBox="1"/>
          <p:nvPr/>
        </p:nvSpPr>
        <p:spPr>
          <a:xfrm>
            <a:off x="2427154" y="3257949"/>
            <a:ext cx="10390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10 </a:t>
            </a:r>
            <a:r>
              <a:rPr lang="en-US" altLang="ko-KR" sz="1200" b="1" dirty="0" err="1">
                <a:solidFill>
                  <a:srgbClr val="0000FF"/>
                </a:solidFill>
                <a:latin typeface="+mn-ea"/>
              </a:rPr>
              <a:t>usec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 algn="ctr"/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(50 </a:t>
            </a:r>
            <a:r>
              <a:rPr lang="en-US" altLang="ko-KR" sz="1200" b="1" dirty="0" err="1">
                <a:solidFill>
                  <a:srgbClr val="0000FF"/>
                </a:solidFill>
                <a:latin typeface="+mn-ea"/>
              </a:rPr>
              <a:t>KHz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</a:t>
            </a:r>
          </a:p>
          <a:p>
            <a:pPr algn="ctr"/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 algn="ctr"/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100 sample</a:t>
            </a:r>
            <a:endParaRPr lang="ko-KR" altLang="en-US" sz="12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6B1165-3096-3100-A796-41C883460B61}"/>
              </a:ext>
            </a:extLst>
          </p:cNvPr>
          <p:cNvSpPr txBox="1"/>
          <p:nvPr/>
        </p:nvSpPr>
        <p:spPr>
          <a:xfrm>
            <a:off x="3974564" y="3200799"/>
            <a:ext cx="14806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20 </a:t>
            </a:r>
            <a:r>
              <a:rPr lang="en-US" altLang="ko-KR" sz="1200" b="1" dirty="0" err="1">
                <a:solidFill>
                  <a:srgbClr val="0000FF"/>
                </a:solidFill>
                <a:latin typeface="+mn-ea"/>
              </a:rPr>
              <a:t>usec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 algn="ctr"/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(25 </a:t>
            </a:r>
            <a:r>
              <a:rPr lang="en-US" altLang="ko-KR" sz="1200" b="1" dirty="0" err="1">
                <a:solidFill>
                  <a:srgbClr val="0000FF"/>
                </a:solidFill>
                <a:latin typeface="+mn-ea"/>
              </a:rPr>
              <a:t>KHz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</a:t>
            </a:r>
            <a:br>
              <a:rPr lang="en-US" altLang="ko-KR" sz="1200" b="1" dirty="0">
                <a:solidFill>
                  <a:srgbClr val="0000FF"/>
                </a:solidFill>
                <a:latin typeface="+mn-ea"/>
              </a:rPr>
            </a:b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 algn="ctr"/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200 sample</a:t>
            </a:r>
            <a:endParaRPr lang="ko-KR" altLang="en-US" sz="1200" b="1" dirty="0">
              <a:solidFill>
                <a:srgbClr val="0000FF"/>
              </a:solidFill>
              <a:latin typeface="+mn-ea"/>
            </a:endParaRPr>
          </a:p>
          <a:p>
            <a:pPr algn="ctr"/>
            <a:endParaRPr lang="ko-KR" altLang="en-US" sz="12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AD59C9-DF75-8DEC-9D93-F4F51C32DE90}"/>
              </a:ext>
            </a:extLst>
          </p:cNvPr>
          <p:cNvSpPr txBox="1"/>
          <p:nvPr/>
        </p:nvSpPr>
        <p:spPr>
          <a:xfrm>
            <a:off x="6562726" y="2403453"/>
            <a:ext cx="21526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50 </a:t>
            </a:r>
            <a:r>
              <a:rPr lang="en-US" altLang="ko-KR" sz="1200" b="1" dirty="0" err="1">
                <a:solidFill>
                  <a:srgbClr val="0000FF"/>
                </a:solidFill>
                <a:latin typeface="+mn-ea"/>
              </a:rPr>
              <a:t>usec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 algn="ctr"/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(10 </a:t>
            </a:r>
            <a:r>
              <a:rPr lang="en-US" altLang="ko-KR" sz="1200" b="1" dirty="0" err="1">
                <a:solidFill>
                  <a:srgbClr val="0000FF"/>
                </a:solidFill>
                <a:latin typeface="+mn-ea"/>
              </a:rPr>
              <a:t>KHz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</a:t>
            </a:r>
          </a:p>
          <a:p>
            <a:pPr algn="ctr"/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 algn="ctr"/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500 sample</a:t>
            </a:r>
            <a:endParaRPr lang="ko-KR" altLang="en-US" sz="1200" b="1" dirty="0">
              <a:solidFill>
                <a:srgbClr val="0000FF"/>
              </a:solidFill>
              <a:latin typeface="+mn-ea"/>
            </a:endParaRPr>
          </a:p>
          <a:p>
            <a:pPr algn="ctr"/>
            <a:endParaRPr lang="ko-KR" altLang="en-US" sz="12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9F4412-085C-A59B-34ED-1F4B484CE5AC}"/>
              </a:ext>
            </a:extLst>
          </p:cNvPr>
          <p:cNvSpPr txBox="1"/>
          <p:nvPr/>
        </p:nvSpPr>
        <p:spPr>
          <a:xfrm>
            <a:off x="3369956" y="5729287"/>
            <a:ext cx="41704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sampling : 10 MHz (100 </a:t>
            </a:r>
            <a:r>
              <a:rPr lang="en-US" altLang="ko-KR" sz="1200" b="1" dirty="0" err="1">
                <a:solidFill>
                  <a:srgbClr val="0000FF"/>
                </a:solidFill>
                <a:latin typeface="+mn-ea"/>
              </a:rPr>
              <a:t>nsec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</a:t>
            </a:r>
            <a:endParaRPr lang="ko-KR" altLang="en-US" sz="1200" b="1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24471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제목 1">
            <a:extLst>
              <a:ext uri="{FF2B5EF4-FFF2-40B4-BE49-F238E27FC236}">
                <a16:creationId xmlns:a16="http://schemas.microsoft.com/office/drawing/2014/main" id="{3CBCF527-18F6-8208-13D2-AC6D6A8AE3EF}"/>
              </a:ext>
            </a:extLst>
          </p:cNvPr>
          <p:cNvSpPr txBox="1">
            <a:spLocks/>
          </p:cNvSpPr>
          <p:nvPr/>
        </p:nvSpPr>
        <p:spPr>
          <a:xfrm>
            <a:off x="147725" y="13673"/>
            <a:ext cx="11815439" cy="515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FPGA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Block Diagram                                                                     8 / 3</a:t>
            </a:r>
            <a:endParaRPr lang="ko-KR" altLang="en-US" sz="2400" dirty="0">
              <a:solidFill>
                <a:schemeClr val="bg1">
                  <a:lumMod val="9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236BD945-1C87-1D6D-4555-A25745003337}"/>
              </a:ext>
            </a:extLst>
          </p:cNvPr>
          <p:cNvCxnSpPr>
            <a:cxnSpLocks/>
          </p:cNvCxnSpPr>
          <p:nvPr/>
        </p:nvCxnSpPr>
        <p:spPr>
          <a:xfrm>
            <a:off x="2045917" y="4931448"/>
            <a:ext cx="8413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E06C615-686D-2879-9D5B-BE5CEB8F87C8}"/>
              </a:ext>
            </a:extLst>
          </p:cNvPr>
          <p:cNvSpPr txBox="1"/>
          <p:nvPr/>
        </p:nvSpPr>
        <p:spPr>
          <a:xfrm>
            <a:off x="1315488" y="4731393"/>
            <a:ext cx="823139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ADC_X1</a:t>
            </a:r>
          </a:p>
          <a:p>
            <a:pPr algn="ctr"/>
            <a:r>
              <a:rPr lang="en-US" altLang="ko-KR" sz="1000" b="1" dirty="0">
                <a:latin typeface="+mn-ea"/>
              </a:rPr>
              <a:t>(16-bit)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B04F7D6-DB7F-9DF0-1622-5341161AF15F}"/>
              </a:ext>
            </a:extLst>
          </p:cNvPr>
          <p:cNvCxnSpPr>
            <a:cxnSpLocks/>
          </p:cNvCxnSpPr>
          <p:nvPr/>
        </p:nvCxnSpPr>
        <p:spPr>
          <a:xfrm>
            <a:off x="2045917" y="5732727"/>
            <a:ext cx="8413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B27A8BA-36B5-25F9-67DC-36A48A65F80A}"/>
              </a:ext>
            </a:extLst>
          </p:cNvPr>
          <p:cNvSpPr txBox="1"/>
          <p:nvPr/>
        </p:nvSpPr>
        <p:spPr>
          <a:xfrm>
            <a:off x="1315488" y="5532672"/>
            <a:ext cx="823139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ADC_X64</a:t>
            </a:r>
          </a:p>
          <a:p>
            <a:pPr algn="ctr"/>
            <a:r>
              <a:rPr lang="en-US" altLang="ko-KR" sz="1000" b="1" dirty="0">
                <a:latin typeface="+mn-ea"/>
              </a:rPr>
              <a:t>(16-bit)</a:t>
            </a:r>
          </a:p>
        </p:txBody>
      </p:sp>
      <p:sp>
        <p:nvSpPr>
          <p:cNvPr id="10" name="왼쪽 대괄호 9">
            <a:extLst>
              <a:ext uri="{FF2B5EF4-FFF2-40B4-BE49-F238E27FC236}">
                <a16:creationId xmlns:a16="http://schemas.microsoft.com/office/drawing/2014/main" id="{7BA7787B-B1AC-EF93-45DE-2CFB6BA93E1F}"/>
              </a:ext>
            </a:extLst>
          </p:cNvPr>
          <p:cNvSpPr/>
          <p:nvPr/>
        </p:nvSpPr>
        <p:spPr>
          <a:xfrm>
            <a:off x="1297244" y="4731393"/>
            <a:ext cx="126504" cy="1201384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8CB2CC-05FF-E5C5-87DF-C63C2E042C00}"/>
              </a:ext>
            </a:extLst>
          </p:cNvPr>
          <p:cNvSpPr txBox="1"/>
          <p:nvPr/>
        </p:nvSpPr>
        <p:spPr>
          <a:xfrm>
            <a:off x="511338" y="5034809"/>
            <a:ext cx="823139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PD raw</a:t>
            </a:r>
          </a:p>
          <a:p>
            <a:pPr algn="ctr"/>
            <a:r>
              <a:rPr lang="en-US" altLang="ko-KR" sz="1000" b="1" dirty="0">
                <a:latin typeface="+mn-ea"/>
              </a:rPr>
              <a:t>ADC signal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87E20B3-62F5-6321-1331-EE8A12729200}"/>
              </a:ext>
            </a:extLst>
          </p:cNvPr>
          <p:cNvSpPr/>
          <p:nvPr/>
        </p:nvSpPr>
        <p:spPr>
          <a:xfrm>
            <a:off x="2583861" y="3009569"/>
            <a:ext cx="540000" cy="18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MSB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D9DC896-55D0-E512-7335-DF310C85A58F}"/>
              </a:ext>
            </a:extLst>
          </p:cNvPr>
          <p:cNvCxnSpPr>
            <a:cxnSpLocks/>
          </p:cNvCxnSpPr>
          <p:nvPr/>
        </p:nvCxnSpPr>
        <p:spPr>
          <a:xfrm>
            <a:off x="3798983" y="5346228"/>
            <a:ext cx="8413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D3B3A5F-520F-42DC-67E8-AC502E6EE98C}"/>
              </a:ext>
            </a:extLst>
          </p:cNvPr>
          <p:cNvSpPr txBox="1"/>
          <p:nvPr/>
        </p:nvSpPr>
        <p:spPr>
          <a:xfrm>
            <a:off x="4640366" y="5146173"/>
            <a:ext cx="823139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ADC_MIXED</a:t>
            </a:r>
          </a:p>
          <a:p>
            <a:pPr algn="ctr"/>
            <a:r>
              <a:rPr lang="en-US" altLang="ko-KR" sz="1000" b="1" dirty="0">
                <a:latin typeface="+mn-ea"/>
              </a:rPr>
              <a:t>(32-bit)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02B0D95-1DDA-4C59-A0C8-F36A3EBDD619}"/>
              </a:ext>
            </a:extLst>
          </p:cNvPr>
          <p:cNvSpPr/>
          <p:nvPr/>
        </p:nvSpPr>
        <p:spPr>
          <a:xfrm>
            <a:off x="3663126" y="3008897"/>
            <a:ext cx="540000" cy="18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2ECB832-03AC-7BCD-A250-4A7F39267E43}"/>
              </a:ext>
            </a:extLst>
          </p:cNvPr>
          <p:cNvSpPr/>
          <p:nvPr/>
        </p:nvSpPr>
        <p:spPr>
          <a:xfrm>
            <a:off x="4738258" y="3008897"/>
            <a:ext cx="540000" cy="18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8F111E3-06DA-137C-B839-D4F187BDCD97}"/>
              </a:ext>
            </a:extLst>
          </p:cNvPr>
          <p:cNvSpPr/>
          <p:nvPr/>
        </p:nvSpPr>
        <p:spPr>
          <a:xfrm>
            <a:off x="6352654" y="3010481"/>
            <a:ext cx="540000" cy="18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LSB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99A5857-7FF5-4589-4C58-F526C7384717}"/>
              </a:ext>
            </a:extLst>
          </p:cNvPr>
          <p:cNvSpPr/>
          <p:nvPr/>
        </p:nvSpPr>
        <p:spPr>
          <a:xfrm>
            <a:off x="2887300" y="4574848"/>
            <a:ext cx="911683" cy="151447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ADC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signal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Mixer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7BB5B4-A6F6-D5B7-3223-A49C793E8A3C}"/>
              </a:ext>
            </a:extLst>
          </p:cNvPr>
          <p:cNvSpPr txBox="1"/>
          <p:nvPr/>
        </p:nvSpPr>
        <p:spPr>
          <a:xfrm>
            <a:off x="2751059" y="3208364"/>
            <a:ext cx="823139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ADC_X1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2F7284-1E96-007B-D326-270CEA4B7D00}"/>
              </a:ext>
            </a:extLst>
          </p:cNvPr>
          <p:cNvSpPr txBox="1"/>
          <p:nvPr/>
        </p:nvSpPr>
        <p:spPr>
          <a:xfrm>
            <a:off x="3827918" y="3215516"/>
            <a:ext cx="823139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ADC_X64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F386F6-43A8-91B9-C492-CE0803666C13}"/>
              </a:ext>
            </a:extLst>
          </p:cNvPr>
          <p:cNvSpPr txBox="1"/>
          <p:nvPr/>
        </p:nvSpPr>
        <p:spPr>
          <a:xfrm>
            <a:off x="5403647" y="3207131"/>
            <a:ext cx="823139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ADC_MIXED</a:t>
            </a:r>
          </a:p>
        </p:txBody>
      </p:sp>
      <p:sp>
        <p:nvSpPr>
          <p:cNvPr id="22" name="왼쪽 대괄호 21">
            <a:extLst>
              <a:ext uri="{FF2B5EF4-FFF2-40B4-BE49-F238E27FC236}">
                <a16:creationId xmlns:a16="http://schemas.microsoft.com/office/drawing/2014/main" id="{17CE844B-0A82-6E59-DBD7-EDB7DC4E4DBB}"/>
              </a:ext>
            </a:extLst>
          </p:cNvPr>
          <p:cNvSpPr/>
          <p:nvPr/>
        </p:nvSpPr>
        <p:spPr>
          <a:xfrm rot="16200000">
            <a:off x="5720914" y="2282435"/>
            <a:ext cx="196495" cy="2146984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왼쪽 대괄호 22">
            <a:extLst>
              <a:ext uri="{FF2B5EF4-FFF2-40B4-BE49-F238E27FC236}">
                <a16:creationId xmlns:a16="http://schemas.microsoft.com/office/drawing/2014/main" id="{5019A1DF-E655-F05B-38C9-15C32939A6DE}"/>
              </a:ext>
            </a:extLst>
          </p:cNvPr>
          <p:cNvSpPr/>
          <p:nvPr/>
        </p:nvSpPr>
        <p:spPr>
          <a:xfrm rot="16200000">
            <a:off x="4106766" y="2822680"/>
            <a:ext cx="196494" cy="1066494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왼쪽 대괄호 23">
            <a:extLst>
              <a:ext uri="{FF2B5EF4-FFF2-40B4-BE49-F238E27FC236}">
                <a16:creationId xmlns:a16="http://schemas.microsoft.com/office/drawing/2014/main" id="{0F8EA51E-2F1A-9966-DC12-53F0BD933532}"/>
              </a:ext>
            </a:extLst>
          </p:cNvPr>
          <p:cNvSpPr/>
          <p:nvPr/>
        </p:nvSpPr>
        <p:spPr>
          <a:xfrm rot="16200000">
            <a:off x="3025615" y="2816511"/>
            <a:ext cx="196493" cy="1080001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F32B0DE-60D8-B603-2237-CB96222CC449}"/>
              </a:ext>
            </a:extLst>
          </p:cNvPr>
          <p:cNvSpPr/>
          <p:nvPr/>
        </p:nvSpPr>
        <p:spPr>
          <a:xfrm>
            <a:off x="8405769" y="1232033"/>
            <a:ext cx="1800000" cy="18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DMA_addr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+ 0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33D42D4B-507C-5904-FC94-51C1FE03C349}"/>
              </a:ext>
            </a:extLst>
          </p:cNvPr>
          <p:cNvCxnSpPr>
            <a:cxnSpLocks/>
          </p:cNvCxnSpPr>
          <p:nvPr/>
        </p:nvCxnSpPr>
        <p:spPr>
          <a:xfrm flipV="1">
            <a:off x="3150925" y="3461737"/>
            <a:ext cx="0" cy="3966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299D3F0-C010-0BF2-9C95-E4FD7BA967F2}"/>
              </a:ext>
            </a:extLst>
          </p:cNvPr>
          <p:cNvSpPr/>
          <p:nvPr/>
        </p:nvSpPr>
        <p:spPr>
          <a:xfrm>
            <a:off x="3123861" y="3009569"/>
            <a:ext cx="540000" cy="18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9E6FCD6-6FA1-FF26-D88E-902F526AAAE7}"/>
              </a:ext>
            </a:extLst>
          </p:cNvPr>
          <p:cNvSpPr/>
          <p:nvPr/>
        </p:nvSpPr>
        <p:spPr>
          <a:xfrm>
            <a:off x="5275456" y="3008897"/>
            <a:ext cx="540000" cy="18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24A1D981-D1EA-98F0-173A-9DD86CD6718F}"/>
              </a:ext>
            </a:extLst>
          </p:cNvPr>
          <p:cNvCxnSpPr>
            <a:cxnSpLocks/>
          </p:cNvCxnSpPr>
          <p:nvPr/>
        </p:nvCxnSpPr>
        <p:spPr>
          <a:xfrm flipV="1">
            <a:off x="4241868" y="3461737"/>
            <a:ext cx="0" cy="5490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F4697EA4-F2FB-156F-C63C-05F44E63DF68}"/>
              </a:ext>
            </a:extLst>
          </p:cNvPr>
          <p:cNvCxnSpPr>
            <a:cxnSpLocks/>
          </p:cNvCxnSpPr>
          <p:nvPr/>
        </p:nvCxnSpPr>
        <p:spPr>
          <a:xfrm flipV="1">
            <a:off x="5815216" y="3461737"/>
            <a:ext cx="0" cy="7014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E942E9D3-6DFB-6A86-BE8C-EE0D1953ED05}"/>
              </a:ext>
            </a:extLst>
          </p:cNvPr>
          <p:cNvCxnSpPr>
            <a:cxnSpLocks/>
          </p:cNvCxnSpPr>
          <p:nvPr/>
        </p:nvCxnSpPr>
        <p:spPr>
          <a:xfrm>
            <a:off x="2403832" y="3858373"/>
            <a:ext cx="758796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DE15FB65-6BF0-00EB-543B-E137CF14EF10}"/>
              </a:ext>
            </a:extLst>
          </p:cNvPr>
          <p:cNvCxnSpPr>
            <a:cxnSpLocks/>
          </p:cNvCxnSpPr>
          <p:nvPr/>
        </p:nvCxnSpPr>
        <p:spPr>
          <a:xfrm>
            <a:off x="2556232" y="4010773"/>
            <a:ext cx="168325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C83B7BAC-3E3A-E4BD-ECF3-3227D33BBD60}"/>
              </a:ext>
            </a:extLst>
          </p:cNvPr>
          <p:cNvCxnSpPr>
            <a:cxnSpLocks/>
          </p:cNvCxnSpPr>
          <p:nvPr/>
        </p:nvCxnSpPr>
        <p:spPr>
          <a:xfrm>
            <a:off x="4239487" y="4163173"/>
            <a:ext cx="1575729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074BC6FC-5283-25EC-DC1B-96ACFB693701}"/>
              </a:ext>
            </a:extLst>
          </p:cNvPr>
          <p:cNvCxnSpPr>
            <a:cxnSpLocks/>
          </p:cNvCxnSpPr>
          <p:nvPr/>
        </p:nvCxnSpPr>
        <p:spPr>
          <a:xfrm flipV="1">
            <a:off x="2403832" y="3858373"/>
            <a:ext cx="0" cy="107307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65F58DA8-FC7A-9119-E6AE-8E9C088F2F48}"/>
              </a:ext>
            </a:extLst>
          </p:cNvPr>
          <p:cNvCxnSpPr>
            <a:cxnSpLocks/>
          </p:cNvCxnSpPr>
          <p:nvPr/>
        </p:nvCxnSpPr>
        <p:spPr>
          <a:xfrm flipV="1">
            <a:off x="2556232" y="4010773"/>
            <a:ext cx="0" cy="172195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7BA25491-0BAA-F871-B0A6-AF3DFB557AAD}"/>
              </a:ext>
            </a:extLst>
          </p:cNvPr>
          <p:cNvCxnSpPr>
            <a:cxnSpLocks/>
          </p:cNvCxnSpPr>
          <p:nvPr/>
        </p:nvCxnSpPr>
        <p:spPr>
          <a:xfrm flipV="1">
            <a:off x="4240500" y="4163173"/>
            <a:ext cx="0" cy="118305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4A2487FF-9B98-BFC6-375E-BF0A0B0A6417}"/>
              </a:ext>
            </a:extLst>
          </p:cNvPr>
          <p:cNvSpPr/>
          <p:nvPr/>
        </p:nvSpPr>
        <p:spPr>
          <a:xfrm>
            <a:off x="4204464" y="5308034"/>
            <a:ext cx="78365" cy="783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B632C91F-4707-AC05-2CD2-767097902C6E}"/>
              </a:ext>
            </a:extLst>
          </p:cNvPr>
          <p:cNvSpPr/>
          <p:nvPr/>
        </p:nvSpPr>
        <p:spPr>
          <a:xfrm>
            <a:off x="2520866" y="5697718"/>
            <a:ext cx="78365" cy="783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278B571D-E7DA-8841-1904-F297549202D1}"/>
              </a:ext>
            </a:extLst>
          </p:cNvPr>
          <p:cNvSpPr/>
          <p:nvPr/>
        </p:nvSpPr>
        <p:spPr>
          <a:xfrm>
            <a:off x="2365607" y="4896930"/>
            <a:ext cx="78365" cy="783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3" name="직사각형 452">
            <a:extLst>
              <a:ext uri="{FF2B5EF4-FFF2-40B4-BE49-F238E27FC236}">
                <a16:creationId xmlns:a16="http://schemas.microsoft.com/office/drawing/2014/main" id="{6FD0D6E9-904F-A485-0F9B-EE4C73358234}"/>
              </a:ext>
            </a:extLst>
          </p:cNvPr>
          <p:cNvSpPr/>
          <p:nvPr/>
        </p:nvSpPr>
        <p:spPr>
          <a:xfrm>
            <a:off x="8405769" y="1409263"/>
            <a:ext cx="1800000" cy="18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DMA_addr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+ 1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4" name="직사각형 453">
            <a:extLst>
              <a:ext uri="{FF2B5EF4-FFF2-40B4-BE49-F238E27FC236}">
                <a16:creationId xmlns:a16="http://schemas.microsoft.com/office/drawing/2014/main" id="{29F36052-FA29-31B9-C26C-CB0AC120A9DF}"/>
              </a:ext>
            </a:extLst>
          </p:cNvPr>
          <p:cNvSpPr/>
          <p:nvPr/>
        </p:nvSpPr>
        <p:spPr>
          <a:xfrm>
            <a:off x="8405769" y="1584531"/>
            <a:ext cx="1800000" cy="18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DMA_addr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+ 2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5" name="직사각형 454">
            <a:extLst>
              <a:ext uri="{FF2B5EF4-FFF2-40B4-BE49-F238E27FC236}">
                <a16:creationId xmlns:a16="http://schemas.microsoft.com/office/drawing/2014/main" id="{2887C591-E751-0F51-E389-C57274FBC141}"/>
              </a:ext>
            </a:extLst>
          </p:cNvPr>
          <p:cNvSpPr/>
          <p:nvPr/>
        </p:nvSpPr>
        <p:spPr>
          <a:xfrm>
            <a:off x="8405769" y="1761761"/>
            <a:ext cx="1800000" cy="18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DMA_addr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+ 3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6" name="직사각형 455">
            <a:extLst>
              <a:ext uri="{FF2B5EF4-FFF2-40B4-BE49-F238E27FC236}">
                <a16:creationId xmlns:a16="http://schemas.microsoft.com/office/drawing/2014/main" id="{8DA7DE30-1F67-FB7B-742E-455EA2776488}"/>
              </a:ext>
            </a:extLst>
          </p:cNvPr>
          <p:cNvSpPr/>
          <p:nvPr/>
        </p:nvSpPr>
        <p:spPr>
          <a:xfrm>
            <a:off x="8405769" y="1937993"/>
            <a:ext cx="1800000" cy="18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DMA_addr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+ 4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7" name="직사각형 456">
            <a:extLst>
              <a:ext uri="{FF2B5EF4-FFF2-40B4-BE49-F238E27FC236}">
                <a16:creationId xmlns:a16="http://schemas.microsoft.com/office/drawing/2014/main" id="{D77A768C-EE3E-C0CC-0651-38E05025C2C5}"/>
              </a:ext>
            </a:extLst>
          </p:cNvPr>
          <p:cNvSpPr/>
          <p:nvPr/>
        </p:nvSpPr>
        <p:spPr>
          <a:xfrm>
            <a:off x="8405769" y="2115223"/>
            <a:ext cx="1800000" cy="18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DMA_addr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+ 5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8" name="직사각형 457">
            <a:extLst>
              <a:ext uri="{FF2B5EF4-FFF2-40B4-BE49-F238E27FC236}">
                <a16:creationId xmlns:a16="http://schemas.microsoft.com/office/drawing/2014/main" id="{E30AB561-CC37-6321-60C9-383C7FEF0171}"/>
              </a:ext>
            </a:extLst>
          </p:cNvPr>
          <p:cNvSpPr/>
          <p:nvPr/>
        </p:nvSpPr>
        <p:spPr>
          <a:xfrm>
            <a:off x="8405769" y="2290491"/>
            <a:ext cx="1800000" cy="18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DMA_addr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+ 6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2" name="직사각형 461">
            <a:extLst>
              <a:ext uri="{FF2B5EF4-FFF2-40B4-BE49-F238E27FC236}">
                <a16:creationId xmlns:a16="http://schemas.microsoft.com/office/drawing/2014/main" id="{511377F3-56A8-7247-0175-7AD8F9C16A49}"/>
              </a:ext>
            </a:extLst>
          </p:cNvPr>
          <p:cNvSpPr/>
          <p:nvPr/>
        </p:nvSpPr>
        <p:spPr>
          <a:xfrm>
            <a:off x="8405769" y="2467721"/>
            <a:ext cx="1800000" cy="18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DMA_addr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+ 7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3" name="직사각형 462">
            <a:extLst>
              <a:ext uri="{FF2B5EF4-FFF2-40B4-BE49-F238E27FC236}">
                <a16:creationId xmlns:a16="http://schemas.microsoft.com/office/drawing/2014/main" id="{CEBBDCE6-DB89-0E74-A089-9A78A7F4D2A0}"/>
              </a:ext>
            </a:extLst>
          </p:cNvPr>
          <p:cNvSpPr/>
          <p:nvPr/>
        </p:nvSpPr>
        <p:spPr>
          <a:xfrm>
            <a:off x="8405769" y="2648934"/>
            <a:ext cx="18000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DMA_addr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+ 8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4" name="직사각형 463">
            <a:extLst>
              <a:ext uri="{FF2B5EF4-FFF2-40B4-BE49-F238E27FC236}">
                <a16:creationId xmlns:a16="http://schemas.microsoft.com/office/drawing/2014/main" id="{5953D278-95BD-8996-B0D7-0F0509C40811}"/>
              </a:ext>
            </a:extLst>
          </p:cNvPr>
          <p:cNvSpPr/>
          <p:nvPr/>
        </p:nvSpPr>
        <p:spPr>
          <a:xfrm>
            <a:off x="8405769" y="2832514"/>
            <a:ext cx="18000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DMA_addr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+ 9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5" name="직사각형 464">
            <a:extLst>
              <a:ext uri="{FF2B5EF4-FFF2-40B4-BE49-F238E27FC236}">
                <a16:creationId xmlns:a16="http://schemas.microsoft.com/office/drawing/2014/main" id="{AFF623A9-7A04-824E-9991-3FC472BCDB3C}"/>
              </a:ext>
            </a:extLst>
          </p:cNvPr>
          <p:cNvSpPr/>
          <p:nvPr/>
        </p:nvSpPr>
        <p:spPr>
          <a:xfrm>
            <a:off x="8405769" y="3007782"/>
            <a:ext cx="18000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DMA_addr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+ 10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6" name="직사각형 465">
            <a:extLst>
              <a:ext uri="{FF2B5EF4-FFF2-40B4-BE49-F238E27FC236}">
                <a16:creationId xmlns:a16="http://schemas.microsoft.com/office/drawing/2014/main" id="{4B2C4488-9385-DE13-BB34-AFCF213EF454}"/>
              </a:ext>
            </a:extLst>
          </p:cNvPr>
          <p:cNvSpPr/>
          <p:nvPr/>
        </p:nvSpPr>
        <p:spPr>
          <a:xfrm>
            <a:off x="8405769" y="3185012"/>
            <a:ext cx="18000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DMA_addr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+ 11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7" name="직사각형 466">
            <a:extLst>
              <a:ext uri="{FF2B5EF4-FFF2-40B4-BE49-F238E27FC236}">
                <a16:creationId xmlns:a16="http://schemas.microsoft.com/office/drawing/2014/main" id="{BE503409-3DC7-E227-ABD5-78CB720F512D}"/>
              </a:ext>
            </a:extLst>
          </p:cNvPr>
          <p:cNvSpPr/>
          <p:nvPr/>
        </p:nvSpPr>
        <p:spPr>
          <a:xfrm>
            <a:off x="8405769" y="3367594"/>
            <a:ext cx="18000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DMA_addr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+ 12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8" name="직사각형 467">
            <a:extLst>
              <a:ext uri="{FF2B5EF4-FFF2-40B4-BE49-F238E27FC236}">
                <a16:creationId xmlns:a16="http://schemas.microsoft.com/office/drawing/2014/main" id="{1C056AA9-D487-65C8-EDFA-D87976F88E4E}"/>
              </a:ext>
            </a:extLst>
          </p:cNvPr>
          <p:cNvSpPr/>
          <p:nvPr/>
        </p:nvSpPr>
        <p:spPr>
          <a:xfrm>
            <a:off x="8405769" y="3544824"/>
            <a:ext cx="18000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DMA_addr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+ 13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9" name="직사각형 468">
            <a:extLst>
              <a:ext uri="{FF2B5EF4-FFF2-40B4-BE49-F238E27FC236}">
                <a16:creationId xmlns:a16="http://schemas.microsoft.com/office/drawing/2014/main" id="{D19483DA-E6F0-76F4-7573-A36D6D6860F4}"/>
              </a:ext>
            </a:extLst>
          </p:cNvPr>
          <p:cNvSpPr/>
          <p:nvPr/>
        </p:nvSpPr>
        <p:spPr>
          <a:xfrm>
            <a:off x="8405769" y="3716917"/>
            <a:ext cx="18000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DMA_addr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+ 14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0" name="직사각형 469">
            <a:extLst>
              <a:ext uri="{FF2B5EF4-FFF2-40B4-BE49-F238E27FC236}">
                <a16:creationId xmlns:a16="http://schemas.microsoft.com/office/drawing/2014/main" id="{D0606196-E7C8-BA3D-32C0-7B58D138C9E8}"/>
              </a:ext>
            </a:extLst>
          </p:cNvPr>
          <p:cNvSpPr/>
          <p:nvPr/>
        </p:nvSpPr>
        <p:spPr>
          <a:xfrm>
            <a:off x="8405769" y="3894147"/>
            <a:ext cx="18000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DMA_addr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+ 15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1" name="직사각형 470">
            <a:extLst>
              <a:ext uri="{FF2B5EF4-FFF2-40B4-BE49-F238E27FC236}">
                <a16:creationId xmlns:a16="http://schemas.microsoft.com/office/drawing/2014/main" id="{BB04EB53-C7BB-D492-4D54-B65BB0A080CB}"/>
              </a:ext>
            </a:extLst>
          </p:cNvPr>
          <p:cNvSpPr/>
          <p:nvPr/>
        </p:nvSpPr>
        <p:spPr>
          <a:xfrm>
            <a:off x="8405769" y="5000830"/>
            <a:ext cx="180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DMA_addr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+ (N-1) x 8 + 0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3" name="직사각형 472">
            <a:extLst>
              <a:ext uri="{FF2B5EF4-FFF2-40B4-BE49-F238E27FC236}">
                <a16:creationId xmlns:a16="http://schemas.microsoft.com/office/drawing/2014/main" id="{4406EA51-BCEC-6D98-3440-C5487D479B0E}"/>
              </a:ext>
            </a:extLst>
          </p:cNvPr>
          <p:cNvSpPr/>
          <p:nvPr/>
        </p:nvSpPr>
        <p:spPr>
          <a:xfrm>
            <a:off x="8405769" y="5178060"/>
            <a:ext cx="180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DMA_addr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+ (N-1) x 8 + 1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4" name="직사각형 473">
            <a:extLst>
              <a:ext uri="{FF2B5EF4-FFF2-40B4-BE49-F238E27FC236}">
                <a16:creationId xmlns:a16="http://schemas.microsoft.com/office/drawing/2014/main" id="{F41D43E3-4F90-9757-FF03-1250391E9A1E}"/>
              </a:ext>
            </a:extLst>
          </p:cNvPr>
          <p:cNvSpPr/>
          <p:nvPr/>
        </p:nvSpPr>
        <p:spPr>
          <a:xfrm>
            <a:off x="8405769" y="5359678"/>
            <a:ext cx="180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DMA_addr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+ (N-1) x 8 + 2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6" name="직사각형 475">
            <a:extLst>
              <a:ext uri="{FF2B5EF4-FFF2-40B4-BE49-F238E27FC236}">
                <a16:creationId xmlns:a16="http://schemas.microsoft.com/office/drawing/2014/main" id="{12B09BF8-B350-2256-5CA5-1E0A9667D17E}"/>
              </a:ext>
            </a:extLst>
          </p:cNvPr>
          <p:cNvSpPr/>
          <p:nvPr/>
        </p:nvSpPr>
        <p:spPr>
          <a:xfrm>
            <a:off x="8405769" y="5536908"/>
            <a:ext cx="180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DMA_addr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+ (N-1) x 8 + 3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7" name="직사각형 476">
            <a:extLst>
              <a:ext uri="{FF2B5EF4-FFF2-40B4-BE49-F238E27FC236}">
                <a16:creationId xmlns:a16="http://schemas.microsoft.com/office/drawing/2014/main" id="{7E48C9C8-AF55-FF07-8C9A-0029E0DDAEE0}"/>
              </a:ext>
            </a:extLst>
          </p:cNvPr>
          <p:cNvSpPr/>
          <p:nvPr/>
        </p:nvSpPr>
        <p:spPr>
          <a:xfrm>
            <a:off x="8405769" y="5713042"/>
            <a:ext cx="180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DMA_addr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+ (N-1) x 8 + 4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9" name="직사각형 478">
            <a:extLst>
              <a:ext uri="{FF2B5EF4-FFF2-40B4-BE49-F238E27FC236}">
                <a16:creationId xmlns:a16="http://schemas.microsoft.com/office/drawing/2014/main" id="{65DB6039-D3EC-8FCE-FB5D-30C12BEDA7E1}"/>
              </a:ext>
            </a:extLst>
          </p:cNvPr>
          <p:cNvSpPr/>
          <p:nvPr/>
        </p:nvSpPr>
        <p:spPr>
          <a:xfrm>
            <a:off x="8405769" y="5890272"/>
            <a:ext cx="180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DMA_addr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+ (N-1) x 8 + 5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81" name="직사각형 480">
            <a:extLst>
              <a:ext uri="{FF2B5EF4-FFF2-40B4-BE49-F238E27FC236}">
                <a16:creationId xmlns:a16="http://schemas.microsoft.com/office/drawing/2014/main" id="{9A5B897A-61CD-C540-5EE2-C45E356FBC46}"/>
              </a:ext>
            </a:extLst>
          </p:cNvPr>
          <p:cNvSpPr/>
          <p:nvPr/>
        </p:nvSpPr>
        <p:spPr>
          <a:xfrm>
            <a:off x="8405769" y="6071792"/>
            <a:ext cx="180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DMA_addr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+ (N-1) x 8 + 6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82" name="직사각형 481">
            <a:extLst>
              <a:ext uri="{FF2B5EF4-FFF2-40B4-BE49-F238E27FC236}">
                <a16:creationId xmlns:a16="http://schemas.microsoft.com/office/drawing/2014/main" id="{A65B8FEC-73B7-173E-E137-1AFAD4ABA4FF}"/>
              </a:ext>
            </a:extLst>
          </p:cNvPr>
          <p:cNvSpPr/>
          <p:nvPr/>
        </p:nvSpPr>
        <p:spPr>
          <a:xfrm>
            <a:off x="8405769" y="6255372"/>
            <a:ext cx="1800000" cy="1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DMA_addr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+ (N-1) x 8 + 7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83" name="직사각형 482">
            <a:extLst>
              <a:ext uri="{FF2B5EF4-FFF2-40B4-BE49-F238E27FC236}">
                <a16:creationId xmlns:a16="http://schemas.microsoft.com/office/drawing/2014/main" id="{5422FCDB-46EB-4558-A37E-5057619DD1C4}"/>
              </a:ext>
            </a:extLst>
          </p:cNvPr>
          <p:cNvSpPr/>
          <p:nvPr/>
        </p:nvSpPr>
        <p:spPr>
          <a:xfrm>
            <a:off x="8405769" y="4073960"/>
            <a:ext cx="1800000" cy="93160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. . . . .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86" name="직선 화살표 연결선 485">
            <a:extLst>
              <a:ext uri="{FF2B5EF4-FFF2-40B4-BE49-F238E27FC236}">
                <a16:creationId xmlns:a16="http://schemas.microsoft.com/office/drawing/2014/main" id="{66340D69-34F2-63CF-91B7-034E021F9BB8}"/>
              </a:ext>
            </a:extLst>
          </p:cNvPr>
          <p:cNvCxnSpPr>
            <a:cxnSpLocks/>
          </p:cNvCxnSpPr>
          <p:nvPr/>
        </p:nvCxnSpPr>
        <p:spPr>
          <a:xfrm>
            <a:off x="2853861" y="1309333"/>
            <a:ext cx="55519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직선 화살표 연결선 488">
            <a:extLst>
              <a:ext uri="{FF2B5EF4-FFF2-40B4-BE49-F238E27FC236}">
                <a16:creationId xmlns:a16="http://schemas.microsoft.com/office/drawing/2014/main" id="{29DA978B-96B4-D318-06F8-62DAE813F750}"/>
              </a:ext>
            </a:extLst>
          </p:cNvPr>
          <p:cNvCxnSpPr>
            <a:cxnSpLocks/>
          </p:cNvCxnSpPr>
          <p:nvPr/>
        </p:nvCxnSpPr>
        <p:spPr>
          <a:xfrm>
            <a:off x="3393861" y="1486563"/>
            <a:ext cx="5011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직선 화살표 연결선 489">
            <a:extLst>
              <a:ext uri="{FF2B5EF4-FFF2-40B4-BE49-F238E27FC236}">
                <a16:creationId xmlns:a16="http://schemas.microsoft.com/office/drawing/2014/main" id="{78856950-D787-9203-ED24-0405C1C73983}"/>
              </a:ext>
            </a:extLst>
          </p:cNvPr>
          <p:cNvCxnSpPr>
            <a:cxnSpLocks/>
          </p:cNvCxnSpPr>
          <p:nvPr/>
        </p:nvCxnSpPr>
        <p:spPr>
          <a:xfrm>
            <a:off x="3937889" y="1668181"/>
            <a:ext cx="44678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" name="직선 화살표 연결선 490">
            <a:extLst>
              <a:ext uri="{FF2B5EF4-FFF2-40B4-BE49-F238E27FC236}">
                <a16:creationId xmlns:a16="http://schemas.microsoft.com/office/drawing/2014/main" id="{734BAE22-5D09-111F-8C3A-52B30F9C83FA}"/>
              </a:ext>
            </a:extLst>
          </p:cNvPr>
          <p:cNvCxnSpPr>
            <a:cxnSpLocks/>
          </p:cNvCxnSpPr>
          <p:nvPr/>
        </p:nvCxnSpPr>
        <p:spPr>
          <a:xfrm>
            <a:off x="4475670" y="1845411"/>
            <a:ext cx="39300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직선 화살표 연결선 491">
            <a:extLst>
              <a:ext uri="{FF2B5EF4-FFF2-40B4-BE49-F238E27FC236}">
                <a16:creationId xmlns:a16="http://schemas.microsoft.com/office/drawing/2014/main" id="{AA115C42-BC0F-DAEC-D3FE-307C4573611B}"/>
              </a:ext>
            </a:extLst>
          </p:cNvPr>
          <p:cNvCxnSpPr>
            <a:cxnSpLocks/>
          </p:cNvCxnSpPr>
          <p:nvPr/>
        </p:nvCxnSpPr>
        <p:spPr>
          <a:xfrm>
            <a:off x="5049934" y="2021643"/>
            <a:ext cx="335583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직선 화살표 연결선 492">
            <a:extLst>
              <a:ext uri="{FF2B5EF4-FFF2-40B4-BE49-F238E27FC236}">
                <a16:creationId xmlns:a16="http://schemas.microsoft.com/office/drawing/2014/main" id="{74807138-37DD-4847-3A84-46D654D9A60A}"/>
              </a:ext>
            </a:extLst>
          </p:cNvPr>
          <p:cNvCxnSpPr>
            <a:cxnSpLocks/>
          </p:cNvCxnSpPr>
          <p:nvPr/>
        </p:nvCxnSpPr>
        <p:spPr>
          <a:xfrm>
            <a:off x="5545456" y="2198873"/>
            <a:ext cx="28603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직선 화살표 연결선 493">
            <a:extLst>
              <a:ext uri="{FF2B5EF4-FFF2-40B4-BE49-F238E27FC236}">
                <a16:creationId xmlns:a16="http://schemas.microsoft.com/office/drawing/2014/main" id="{7921C363-EE34-D79C-CD8C-2A2DD5941A5C}"/>
              </a:ext>
            </a:extLst>
          </p:cNvPr>
          <p:cNvCxnSpPr>
            <a:cxnSpLocks/>
          </p:cNvCxnSpPr>
          <p:nvPr/>
        </p:nvCxnSpPr>
        <p:spPr>
          <a:xfrm>
            <a:off x="6085217" y="2380491"/>
            <a:ext cx="23205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직선 화살표 연결선 494">
            <a:extLst>
              <a:ext uri="{FF2B5EF4-FFF2-40B4-BE49-F238E27FC236}">
                <a16:creationId xmlns:a16="http://schemas.microsoft.com/office/drawing/2014/main" id="{30BF7AA2-9C4C-8DBE-C7A7-C4BC6438F85C}"/>
              </a:ext>
            </a:extLst>
          </p:cNvPr>
          <p:cNvCxnSpPr>
            <a:cxnSpLocks/>
          </p:cNvCxnSpPr>
          <p:nvPr/>
        </p:nvCxnSpPr>
        <p:spPr>
          <a:xfrm>
            <a:off x="6622654" y="2572883"/>
            <a:ext cx="17831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직선 화살표 연결선 497">
            <a:extLst>
              <a:ext uri="{FF2B5EF4-FFF2-40B4-BE49-F238E27FC236}">
                <a16:creationId xmlns:a16="http://schemas.microsoft.com/office/drawing/2014/main" id="{05D8F9D2-D6A8-82F6-5820-7B844F09F398}"/>
              </a:ext>
            </a:extLst>
          </p:cNvPr>
          <p:cNvCxnSpPr>
            <a:cxnSpLocks/>
          </p:cNvCxnSpPr>
          <p:nvPr/>
        </p:nvCxnSpPr>
        <p:spPr>
          <a:xfrm flipV="1">
            <a:off x="2857460" y="1309333"/>
            <a:ext cx="0" cy="167319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직선 화살표 연결선 498">
            <a:extLst>
              <a:ext uri="{FF2B5EF4-FFF2-40B4-BE49-F238E27FC236}">
                <a16:creationId xmlns:a16="http://schemas.microsoft.com/office/drawing/2014/main" id="{A5A87259-10E7-8036-E068-879542DA7329}"/>
              </a:ext>
            </a:extLst>
          </p:cNvPr>
          <p:cNvCxnSpPr>
            <a:cxnSpLocks/>
          </p:cNvCxnSpPr>
          <p:nvPr/>
        </p:nvCxnSpPr>
        <p:spPr>
          <a:xfrm flipV="1">
            <a:off x="3396573" y="1486563"/>
            <a:ext cx="0" cy="149632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직선 화살표 연결선 500">
            <a:extLst>
              <a:ext uri="{FF2B5EF4-FFF2-40B4-BE49-F238E27FC236}">
                <a16:creationId xmlns:a16="http://schemas.microsoft.com/office/drawing/2014/main" id="{D3441E29-B191-BACA-0053-915F3811A8F8}"/>
              </a:ext>
            </a:extLst>
          </p:cNvPr>
          <p:cNvCxnSpPr>
            <a:cxnSpLocks/>
          </p:cNvCxnSpPr>
          <p:nvPr/>
        </p:nvCxnSpPr>
        <p:spPr>
          <a:xfrm flipV="1">
            <a:off x="3937889" y="1668181"/>
            <a:ext cx="0" cy="131538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직선 화살표 연결선 501">
            <a:extLst>
              <a:ext uri="{FF2B5EF4-FFF2-40B4-BE49-F238E27FC236}">
                <a16:creationId xmlns:a16="http://schemas.microsoft.com/office/drawing/2014/main" id="{B674DD7F-3B82-9B81-D046-3F738F363D3A}"/>
              </a:ext>
            </a:extLst>
          </p:cNvPr>
          <p:cNvCxnSpPr>
            <a:cxnSpLocks/>
          </p:cNvCxnSpPr>
          <p:nvPr/>
        </p:nvCxnSpPr>
        <p:spPr>
          <a:xfrm flipV="1">
            <a:off x="4475670" y="1845411"/>
            <a:ext cx="0" cy="113711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직선 화살표 연결선 502">
            <a:extLst>
              <a:ext uri="{FF2B5EF4-FFF2-40B4-BE49-F238E27FC236}">
                <a16:creationId xmlns:a16="http://schemas.microsoft.com/office/drawing/2014/main" id="{A5C0AC2A-67DE-A89A-380F-6F2C60481D6D}"/>
              </a:ext>
            </a:extLst>
          </p:cNvPr>
          <p:cNvCxnSpPr>
            <a:cxnSpLocks/>
          </p:cNvCxnSpPr>
          <p:nvPr/>
        </p:nvCxnSpPr>
        <p:spPr>
          <a:xfrm flipV="1">
            <a:off x="5049934" y="2021643"/>
            <a:ext cx="0" cy="96088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직선 화살표 연결선 506">
            <a:extLst>
              <a:ext uri="{FF2B5EF4-FFF2-40B4-BE49-F238E27FC236}">
                <a16:creationId xmlns:a16="http://schemas.microsoft.com/office/drawing/2014/main" id="{8DF96574-C492-C5FB-F5EE-B39B008A34B2}"/>
              </a:ext>
            </a:extLst>
          </p:cNvPr>
          <p:cNvCxnSpPr>
            <a:cxnSpLocks/>
          </p:cNvCxnSpPr>
          <p:nvPr/>
        </p:nvCxnSpPr>
        <p:spPr>
          <a:xfrm flipV="1">
            <a:off x="5545456" y="2198873"/>
            <a:ext cx="0" cy="78365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직선 화살표 연결선 510">
            <a:extLst>
              <a:ext uri="{FF2B5EF4-FFF2-40B4-BE49-F238E27FC236}">
                <a16:creationId xmlns:a16="http://schemas.microsoft.com/office/drawing/2014/main" id="{424E5F1B-BA68-2562-08C3-A42A335E83BC}"/>
              </a:ext>
            </a:extLst>
          </p:cNvPr>
          <p:cNvCxnSpPr>
            <a:cxnSpLocks/>
          </p:cNvCxnSpPr>
          <p:nvPr/>
        </p:nvCxnSpPr>
        <p:spPr>
          <a:xfrm flipV="1">
            <a:off x="6085217" y="2380491"/>
            <a:ext cx="0" cy="60203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FF49F49C-6D43-636A-CB8B-E45F584E61B6}"/>
              </a:ext>
            </a:extLst>
          </p:cNvPr>
          <p:cNvCxnSpPr>
            <a:cxnSpLocks/>
          </p:cNvCxnSpPr>
          <p:nvPr/>
        </p:nvCxnSpPr>
        <p:spPr>
          <a:xfrm flipV="1">
            <a:off x="6622654" y="2572883"/>
            <a:ext cx="0" cy="40964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왼쪽 대괄호 153">
            <a:extLst>
              <a:ext uri="{FF2B5EF4-FFF2-40B4-BE49-F238E27FC236}">
                <a16:creationId xmlns:a16="http://schemas.microsoft.com/office/drawing/2014/main" id="{B52C66CC-65A5-7750-083F-945FCF25FB54}"/>
              </a:ext>
            </a:extLst>
          </p:cNvPr>
          <p:cNvSpPr/>
          <p:nvPr/>
        </p:nvSpPr>
        <p:spPr>
          <a:xfrm rot="10800000">
            <a:off x="10307560" y="1203727"/>
            <a:ext cx="118485" cy="1443994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왼쪽 대괄호 154">
            <a:extLst>
              <a:ext uri="{FF2B5EF4-FFF2-40B4-BE49-F238E27FC236}">
                <a16:creationId xmlns:a16="http://schemas.microsoft.com/office/drawing/2014/main" id="{F0F41BE9-09E8-9E06-7777-4C9EC3075AC0}"/>
              </a:ext>
            </a:extLst>
          </p:cNvPr>
          <p:cNvSpPr/>
          <p:nvPr/>
        </p:nvSpPr>
        <p:spPr>
          <a:xfrm rot="10800000">
            <a:off x="10303562" y="2647721"/>
            <a:ext cx="118485" cy="1443994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왼쪽 대괄호 155">
            <a:extLst>
              <a:ext uri="{FF2B5EF4-FFF2-40B4-BE49-F238E27FC236}">
                <a16:creationId xmlns:a16="http://schemas.microsoft.com/office/drawing/2014/main" id="{D319FB07-E0A6-644E-5437-8B817F5F22A7}"/>
              </a:ext>
            </a:extLst>
          </p:cNvPr>
          <p:cNvSpPr/>
          <p:nvPr/>
        </p:nvSpPr>
        <p:spPr>
          <a:xfrm rot="10800000">
            <a:off x="10303561" y="5002203"/>
            <a:ext cx="118485" cy="1433169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CF6F29-FAE3-CEDA-0F78-E856714BFFC3}"/>
              </a:ext>
            </a:extLst>
          </p:cNvPr>
          <p:cNvSpPr txBox="1"/>
          <p:nvPr/>
        </p:nvSpPr>
        <p:spPr>
          <a:xfrm>
            <a:off x="10430043" y="1764407"/>
            <a:ext cx="104960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1st ADC data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E52DBDA-0595-A3F4-097F-4D163FF0E2F7}"/>
              </a:ext>
            </a:extLst>
          </p:cNvPr>
          <p:cNvSpPr txBox="1"/>
          <p:nvPr/>
        </p:nvSpPr>
        <p:spPr>
          <a:xfrm>
            <a:off x="10422047" y="3275333"/>
            <a:ext cx="104960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2nd ADC data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76B888AA-C685-FF62-F86A-2AF4D958169E}"/>
              </a:ext>
            </a:extLst>
          </p:cNvPr>
          <p:cNvSpPr txBox="1"/>
          <p:nvPr/>
        </p:nvSpPr>
        <p:spPr>
          <a:xfrm>
            <a:off x="10430043" y="5606497"/>
            <a:ext cx="104960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Nth ADC data</a:t>
            </a: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7935394E-B0E8-4114-A5A3-F42E0CBA391F}"/>
              </a:ext>
            </a:extLst>
          </p:cNvPr>
          <p:cNvSpPr/>
          <p:nvPr/>
        </p:nvSpPr>
        <p:spPr>
          <a:xfrm>
            <a:off x="4202876" y="3008897"/>
            <a:ext cx="540000" cy="18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85766FE5-FDAF-4A98-4198-8369ED54C806}"/>
              </a:ext>
            </a:extLst>
          </p:cNvPr>
          <p:cNvSpPr/>
          <p:nvPr/>
        </p:nvSpPr>
        <p:spPr>
          <a:xfrm>
            <a:off x="5815206" y="3008897"/>
            <a:ext cx="540000" cy="18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C40BE9-537D-6B47-DD99-C4A060A4DEF8}"/>
              </a:ext>
            </a:extLst>
          </p:cNvPr>
          <p:cNvSpPr txBox="1"/>
          <p:nvPr/>
        </p:nvSpPr>
        <p:spPr>
          <a:xfrm>
            <a:off x="421188" y="563688"/>
            <a:ext cx="8924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 dirty="0"/>
              <a:t>FPGA block diagram : ADC data DMA data allocation</a:t>
            </a:r>
          </a:p>
        </p:txBody>
      </p:sp>
    </p:spTree>
    <p:extLst>
      <p:ext uri="{BB962C8B-B14F-4D97-AF65-F5344CB8AC3E}">
        <p14:creationId xmlns:p14="http://schemas.microsoft.com/office/powerpoint/2010/main" val="2541403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제목 1">
            <a:extLst>
              <a:ext uri="{FF2B5EF4-FFF2-40B4-BE49-F238E27FC236}">
                <a16:creationId xmlns:a16="http://schemas.microsoft.com/office/drawing/2014/main" id="{3CBCF527-18F6-8208-13D2-AC6D6A8AE3EF}"/>
              </a:ext>
            </a:extLst>
          </p:cNvPr>
          <p:cNvSpPr txBox="1">
            <a:spLocks/>
          </p:cNvSpPr>
          <p:nvPr/>
        </p:nvSpPr>
        <p:spPr>
          <a:xfrm>
            <a:off x="147725" y="13673"/>
            <a:ext cx="11815439" cy="515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FPGA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Block Diagram                                                                     9 / 3</a:t>
            </a:r>
            <a:endParaRPr lang="ko-KR" altLang="en-US" sz="2400" dirty="0">
              <a:solidFill>
                <a:schemeClr val="bg1">
                  <a:lumMod val="9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8CB2CC-05FF-E5C5-87DF-C63C2E042C00}"/>
              </a:ext>
            </a:extLst>
          </p:cNvPr>
          <p:cNvSpPr txBox="1"/>
          <p:nvPr/>
        </p:nvSpPr>
        <p:spPr>
          <a:xfrm>
            <a:off x="2327569" y="1814188"/>
            <a:ext cx="1506243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base line : 400 </a:t>
            </a:r>
            <a:r>
              <a:rPr lang="en-US" altLang="ko-KR" sz="1000" b="1" dirty="0" err="1">
                <a:latin typeface="+mn-ea"/>
              </a:rPr>
              <a:t>mVdc</a:t>
            </a:r>
            <a:endParaRPr lang="en-US" altLang="ko-KR" sz="1000" b="1" dirty="0">
              <a:latin typeface="+mn-ea"/>
            </a:endParaRPr>
          </a:p>
          <a:p>
            <a:r>
              <a:rPr lang="en-US" altLang="ko-KR" sz="1000" b="1" dirty="0">
                <a:latin typeface="+mn-ea"/>
              </a:rPr>
              <a:t>signal     : 0 mV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D9DC896-55D0-E512-7335-DF310C85A58F}"/>
              </a:ext>
            </a:extLst>
          </p:cNvPr>
          <p:cNvCxnSpPr>
            <a:cxnSpLocks/>
          </p:cNvCxnSpPr>
          <p:nvPr/>
        </p:nvCxnSpPr>
        <p:spPr>
          <a:xfrm>
            <a:off x="1989233" y="2185797"/>
            <a:ext cx="20078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D3B3A5F-520F-42DC-67E8-AC502E6EE98C}"/>
              </a:ext>
            </a:extLst>
          </p:cNvPr>
          <p:cNvSpPr txBox="1"/>
          <p:nvPr/>
        </p:nvSpPr>
        <p:spPr>
          <a:xfrm>
            <a:off x="911590" y="1330094"/>
            <a:ext cx="1687641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200" b="1" dirty="0">
                <a:latin typeface="+mn-ea"/>
              </a:rPr>
              <a:t>Case 1)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99A5857-7FF5-4589-4C58-F526C7384717}"/>
              </a:ext>
            </a:extLst>
          </p:cNvPr>
          <p:cNvSpPr/>
          <p:nvPr/>
        </p:nvSpPr>
        <p:spPr>
          <a:xfrm>
            <a:off x="1077550" y="1816398"/>
            <a:ext cx="911683" cy="71876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PD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Simulator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C40BE9-537D-6B47-DD99-C4A060A4DEF8}"/>
              </a:ext>
            </a:extLst>
          </p:cNvPr>
          <p:cNvSpPr txBox="1"/>
          <p:nvPr/>
        </p:nvSpPr>
        <p:spPr>
          <a:xfrm>
            <a:off x="421188" y="563688"/>
            <a:ext cx="8924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 dirty="0"/>
              <a:t>Analog Circuit DC offset voltage measure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3DAC005-6CC0-51A0-D6D0-54684CB4B345}"/>
              </a:ext>
            </a:extLst>
          </p:cNvPr>
          <p:cNvSpPr/>
          <p:nvPr/>
        </p:nvSpPr>
        <p:spPr>
          <a:xfrm>
            <a:off x="3997079" y="1814188"/>
            <a:ext cx="1394071" cy="71876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H-sensor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B89B27C-0F6E-D3CC-E942-6BE1BB9C3D8C}"/>
              </a:ext>
            </a:extLst>
          </p:cNvPr>
          <p:cNvCxnSpPr>
            <a:cxnSpLocks/>
          </p:cNvCxnSpPr>
          <p:nvPr/>
        </p:nvCxnSpPr>
        <p:spPr>
          <a:xfrm>
            <a:off x="1989233" y="2338197"/>
            <a:ext cx="20078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87961D2-42B0-AD52-3591-BCA518F0B75B}"/>
              </a:ext>
            </a:extLst>
          </p:cNvPr>
          <p:cNvSpPr txBox="1"/>
          <p:nvPr/>
        </p:nvSpPr>
        <p:spPr>
          <a:xfrm>
            <a:off x="2751432" y="2155556"/>
            <a:ext cx="65851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GND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0BA7470-159F-455D-61E1-47717F484FA6}"/>
              </a:ext>
            </a:extLst>
          </p:cNvPr>
          <p:cNvCxnSpPr>
            <a:cxnSpLocks/>
          </p:cNvCxnSpPr>
          <p:nvPr/>
        </p:nvCxnSpPr>
        <p:spPr>
          <a:xfrm>
            <a:off x="3409950" y="3715573"/>
            <a:ext cx="5871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443D401-9015-0C09-CAF3-10826751E784}"/>
              </a:ext>
            </a:extLst>
          </p:cNvPr>
          <p:cNvSpPr txBox="1"/>
          <p:nvPr/>
        </p:nvSpPr>
        <p:spPr>
          <a:xfrm>
            <a:off x="911590" y="2859870"/>
            <a:ext cx="1687641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200" b="1" dirty="0">
                <a:latin typeface="+mn-ea"/>
              </a:rPr>
              <a:t>Case 2)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7FB6BB8-691A-8F68-D5CD-797883367B8D}"/>
              </a:ext>
            </a:extLst>
          </p:cNvPr>
          <p:cNvSpPr/>
          <p:nvPr/>
        </p:nvSpPr>
        <p:spPr>
          <a:xfrm>
            <a:off x="1077550" y="3346174"/>
            <a:ext cx="911683" cy="71876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PD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Simulator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85F5C0A-1C41-7557-A53C-C95897BD1964}"/>
              </a:ext>
            </a:extLst>
          </p:cNvPr>
          <p:cNvSpPr/>
          <p:nvPr/>
        </p:nvSpPr>
        <p:spPr>
          <a:xfrm>
            <a:off x="3997079" y="3343964"/>
            <a:ext cx="1394071" cy="71876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H-sensor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3F927B3F-8122-B5E7-EEAB-317F4C985E54}"/>
              </a:ext>
            </a:extLst>
          </p:cNvPr>
          <p:cNvCxnSpPr>
            <a:cxnSpLocks/>
          </p:cNvCxnSpPr>
          <p:nvPr/>
        </p:nvCxnSpPr>
        <p:spPr>
          <a:xfrm>
            <a:off x="3409950" y="3867973"/>
            <a:ext cx="587129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50F2ED8-7ADF-6EA3-CF2B-BAA3BADC02A3}"/>
              </a:ext>
            </a:extLst>
          </p:cNvPr>
          <p:cNvSpPr txBox="1"/>
          <p:nvPr/>
        </p:nvSpPr>
        <p:spPr>
          <a:xfrm>
            <a:off x="3044996" y="3679814"/>
            <a:ext cx="65851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GND</a:t>
            </a: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1A6D909B-1466-45B0-1094-356ACBFF570C}"/>
              </a:ext>
            </a:extLst>
          </p:cNvPr>
          <p:cNvCxnSpPr>
            <a:cxnSpLocks/>
          </p:cNvCxnSpPr>
          <p:nvPr/>
        </p:nvCxnSpPr>
        <p:spPr>
          <a:xfrm flipV="1">
            <a:off x="3411825" y="3715573"/>
            <a:ext cx="0" cy="15240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491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bg1"/>
        </a:solidFill>
      </a:spPr>
      <a:bodyPr wrap="square" rtlCol="0">
        <a:spAutoFit/>
      </a:bodyPr>
      <a:lstStyle>
        <a:defPPr algn="l">
          <a:defRPr sz="12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136561</TotalTime>
  <Words>1660</Words>
  <Application>Microsoft Office PowerPoint</Application>
  <PresentationFormat>와이드스크린</PresentationFormat>
  <Paragraphs>412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맑은 고딕</vt:lpstr>
      <vt:lpstr>Wingdings</vt:lpstr>
      <vt:lpstr>Cambria Math</vt:lpstr>
      <vt:lpstr>Calibri Light</vt:lpstr>
      <vt:lpstr>Arial</vt:lpstr>
      <vt:lpstr>Calibri</vt:lpstr>
      <vt:lpstr>Tahoma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infiTOF MS  Introduction</dc:title>
  <dc:creator>최 현식</dc:creator>
  <cp:lastModifiedBy>동철 이</cp:lastModifiedBy>
  <cp:revision>1253</cp:revision>
  <cp:lastPrinted>2022-05-19T07:52:10Z</cp:lastPrinted>
  <dcterms:created xsi:type="dcterms:W3CDTF">2019-08-20T06:02:41Z</dcterms:created>
  <dcterms:modified xsi:type="dcterms:W3CDTF">2023-09-14T00:07:51Z</dcterms:modified>
</cp:coreProperties>
</file>